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DM Sans" pitchFamily="3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0 to 1. A warehouse that holds too little stock loses sales; too much ties up money. My project forecasts demand and flags which products are at risk, using MySQL, Python and a small app. I will go through the data, the database, the forecast, the risk rule, and then show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0 to 1. Three questions: how many units will sell in the next 30 days, when should we reorder and how much safety stock is needed, and which products are at risk on a given day. I answer them with simple methods I can explain: a normalized database, standard time series models and a clear risk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1 to 2. 91,250 rows: 250 product-warehouse pairs for 365 days. Demand has a yearly cycle, about 30 a day in spring and 10 in autumn, promotions add about 5 units, and there is no weekday effect. I checked for nulls, duplicates, negative values and prices below cost. Stockout_Flag is always 0, so I dropped it. The supplied Demand_Forecast looks derived from the actual sales, so I only use it as a benchmark, never as an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2 to 4.5. I split the raw table into 8 tables. Supplier, lead time, reorder point and prices depend only on the product-warehouse pair, so they sit in sku_warehouse; I proved this in 06_dependency_check.sql. Region changes from day to day, so it stays in daily_record. Primary keys, foreign keys and CHECK constraints protect the data. After loading, the counts match: 91,250 daily rows, 250 pairs, 900 forecast rows, 10 analytics rows. Show the row-count screenshot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transition slide, about 20 seconds. The CSV goes into MySQL, is split into 8 tables, Python reads from the tables to forecast and to calculate risk and writes the results back, SQL views join everything, and the Streamlit app reads the views. Python calculates, MySQL stores and serves, the app only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4.5 to 6.5. I hide the last 30 days and train on the rest, without shuffling. The ADF test shows all series are non-stationary, and after one difference they are stationary, so d is 1. I compare Naive, ARIMA and SARIMAX. Naive has WAPE 29.1%, ARIMA 30.1%, SARIMAX 31.7% (lower is better). Daily demand is noisy, there is no weekday pattern, and one year of data cannot teach the yearly cycle, so the simple method is hard to beat. I still use ARIMA because it gives the average daily demand for the inventory step, and its 80% interval holds about 78% of the actual values, so it is well calibrated. A later slide shows how the interval relates to safety stock. Say this honest result yourself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6.5 to 8. For each series I take the average daily demand from the December ARIMA forecast. Safety stock is 1.65 times the spread of daily sales times the square root of the lead time. Reorder point is demand during the lead time plus safety stock. RED means stock runs out before an order could arrive, YELLOW means order now, GREEN means no action. All 10 forecast series are GREEN in December: their stock lasts 18 to 64 days while lead times are 3 to 14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6.5 to 8. To check the rule on the whole database, a SQL view applies it to every series and every day, using the average of the last 90 days of actual sales. On 30 November all 250 series are GREEN. On 22 May, 213 are GREEN, 21 are RED and 16 are YELLOW. So the rule does flag real risk in the high-demand season. Important: only the 10-series analysis uses the ARIMA forecast; the 250-series view uses recent actual sales, so say that clearly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8 to 9. I used views, joins, a window function to rank the models, a CTE, constraints and a stored procedure. A view is a saved SELECT with a name: it stores no data and always shows current data from the real tables. Show the best-model-per-series screenshot. If you are short on time, cut this slide to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honestly. An 80% prediction interval is the forecast plus or minus 1.28 standard deviations, so the width of the interval tells you the daily uncertainty: SD = (upper minus lower) divided by (2 times 1.28). Our ARIMA intervals are about 16 units wide on average, so SD is about 6 units a day. Safety stock is 1.65 times SD times the square root of the lead time, where 1.65 is the 95% service level. In my inventory notebook I take SD from the last 90 days of actual sales, which is about 5 units a day on average, so it is the same idea with a similar size. ARIMA's forecast supplies the average daily demand. Worked example: SKU_13_WH_2 has SD 5.4 and a lead time of 11 days, so safety stock is 1.65 x 5.4 x 3.3, about 30 units, and the reorder point is 13.5 x 11 + 30, about 179. Stock on 30 November is 399, so it is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this is planned and not executed. The risk step tells us what is at risk; the next question is what to buy when the budget is limited. For each series: units needed = max(0, 30-day forecast minus current stock); cost = units times unit cost; profit = units times (price minus unit cost). Rank by profit divided by cost, buy the best first in full until the budget runs out, then buy a fraction of the last one. Because a fraction is allowed, this greedy method is optimal. The numbers on the slide are made up to show the idea: with a budget of 3,500 you buy A and B in full for 3,000, then one third of C for 500, for a profit of 1,450. The design and a worked example are in fractional_knapsack_report.md; it is not coded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9 to 9.75. Open the app and log in before the talk starts, because the first load takes a few seconds. The app reads the view from MySQL. On 30 Nov all 250 series are GREEN. On 22 May, 21 are RED and 16 are YELLOW, so the rule flags real risk in the high-demand season. These colours use the last 90 days of actual sales,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9.75 to 10. Next: forecast all 250 series, a budget purchase plan with the fractional knapsack (rank by profit divided by cost, buy the best first, buy a fraction of the last one; the design is in the report, it is not coded yet), LSTM once there is more history, and EOQ plus supplier delays in the risk rule. Limits to say out loud if asked: one year of data, only 10 of 250 series forecast, one 30-day test window. Then: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5" y="812786"/>
            <a:ext cx="10566357" cy="502929"/>
          </a:xfrm>
          <a:prstGeom prst="rect">
            <a:avLst/>
          </a:prstGeom>
          <a:noFill/>
          <a:ln/>
        </p:spPr>
        <p:txBody>
          <a:bodyPr wrap="square" lIns="0" tIns="0" rIns="0" bIns="0" rtlCol="0" anchor="t"/>
          <a:lstStyle>
            <a:lvl1pPr algn="l" indent="0" marL="0">
              <a:lnSpc>
                <a:spcPct val="115000"/>
              </a:lnSpc>
              <a:buNone/>
              <a:defRPr lang="en-US" sz="3600" dirty="0">
                <a:solidFill>
                  <a:srgbClr val="1B2A41"/>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latin typeface="DM Sans" charset="0"/>
              <a:ea typeface="DM Sans" charset="0"/>
              <a:cs typeface="DM Sans" charset="0"/>
            </a:endParaRPr>
          </a:p>
        </p:txBody>
      </p:sp>
      <p:sp>
        <p:nvSpPr>
          <p:cNvPr id="3" name="Text Placeholder 2"/>
          <p:cNvSpPr/>
          <p:nvPr>
            <p:ph idx="101" type="body"/>
          </p:nvPr>
        </p:nvSpPr>
        <p:spPr>
          <a:xfrm>
            <a:off x="812785" y="1620515"/>
            <a:ext cx="10566415" cy="4424685"/>
          </a:xfrm>
          <a:prstGeom prst="rect">
            <a:avLst/>
          </a:prstGeom>
          <a:noFill/>
          <a:ln/>
        </p:spPr>
        <p:txBody>
          <a:bodyPr wrap="square" lIns="0" tIns="0" rIns="0" bIns="0" rtlCol="0" anchor="t"/>
          <a:lstStyle>
            <a:lvl1pPr algn="l" indent="0" marL="0">
              <a:lnSpc>
                <a:spcPct val="140000"/>
              </a:lnSpc>
              <a:buNone/>
              <a:defRPr lang="en-US" sz="1600" dirty="0">
                <a:solidFill>
                  <a:srgbClr val="46505E"/>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latin typeface="DM Sans" charset="0"/>
              <a:ea typeface="DM Sans" charset="0"/>
              <a:cs typeface="DM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5" y="812786"/>
            <a:ext cx="10566357" cy="502929"/>
          </a:xfrm>
          <a:prstGeom prst="rect">
            <a:avLst/>
          </a:prstGeom>
          <a:noFill/>
          <a:ln/>
        </p:spPr>
        <p:txBody>
          <a:bodyPr wrap="square" lIns="0" tIns="0" rIns="0" bIns="0" rtlCol="0" anchor="t"/>
          <a:lstStyle>
            <a:lvl1pPr algn="l" indent="0" marL="0">
              <a:lnSpc>
                <a:spcPct val="115000"/>
              </a:lnSpc>
              <a:buNone/>
              <a:defRPr lang="en-US" sz="3600" dirty="0">
                <a:solidFill>
                  <a:srgbClr val="1B2A41"/>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latin typeface="DM Sans" charset="0"/>
              <a:ea typeface="DM Sans" charset="0"/>
              <a:cs typeface="DM Sans" charset="0"/>
            </a:endParaRPr>
          </a:p>
        </p:txBody>
      </p:sp>
      <p:sp>
        <p:nvSpPr>
          <p:cNvPr id="3" name="Text Placeholder 2"/>
          <p:cNvSpPr/>
          <p:nvPr>
            <p:ph idx="101" type="body"/>
          </p:nvPr>
        </p:nvSpPr>
        <p:spPr>
          <a:xfrm>
            <a:off x="812785" y="1620515"/>
            <a:ext cx="10566415" cy="4424685"/>
          </a:xfrm>
          <a:prstGeom prst="rect">
            <a:avLst/>
          </a:prstGeom>
          <a:noFill/>
          <a:ln/>
        </p:spPr>
        <p:txBody>
          <a:bodyPr wrap="square" lIns="0" tIns="0" rIns="0" bIns="0" rtlCol="0" anchor="t"/>
          <a:lstStyle>
            <a:lvl1pPr algn="l" indent="0" marL="0">
              <a:lnSpc>
                <a:spcPct val="140000"/>
              </a:lnSpc>
              <a:buNone/>
              <a:defRPr lang="en-US" sz="1600" dirty="0">
                <a:solidFill>
                  <a:srgbClr val="46505E"/>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latin typeface="DM Sans" charset="0"/>
              <a:ea typeface="DM Sans" charset="0"/>
              <a:cs typeface="DM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785" y="812785"/>
            <a:ext cx="10883348" cy="274255"/>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5EEAD4"/>
                </a:solidFill>
                <a:latin typeface="DM Sans" pitchFamily="34" charset="0"/>
                <a:ea typeface="DM Sans" pitchFamily="34" charset="-122"/>
                <a:cs typeface="DM Sans" pitchFamily="34" charset="-120"/>
              </a:rPr>
              <a:t>DBMS COURSE PROJECT</a:t>
            </a:r>
            <a:endParaRPr lang="en-US" sz="1400" dirty="0">
              <a:latin typeface="DM Sans" charset="0"/>
              <a:ea typeface="DM Sans" charset="0"/>
              <a:cs typeface="DM Sans" charset="0"/>
            </a:endParaRPr>
          </a:p>
        </p:txBody>
      </p:sp>
      <p:sp>
        <p:nvSpPr>
          <p:cNvPr id="3" name="Text 1"/>
          <p:cNvSpPr/>
          <p:nvPr>
            <p:ph type="title"/>
          </p:nvPr>
        </p:nvSpPr>
        <p:spPr>
          <a:xfrm>
            <a:off x="812785" y="2244181"/>
            <a:ext cx="10883348" cy="1625541"/>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0"/>
                </a:solidFill>
                <a:latin typeface="DM Sans" pitchFamily="34" charset="0"/>
                <a:ea typeface="DM Sans" pitchFamily="34" charset="-122"/>
                <a:cs typeface="DM Sans" pitchFamily="34" charset="-120"/>
              </a:rPr>
              <a:t>Supply chain forecasting and inventory risk</a:t>
            </a:r>
            <a:endParaRPr lang="en-US" sz="6000" dirty="0">
              <a:latin typeface="DM Sans" charset="0"/>
              <a:ea typeface="DM Sans" charset="0"/>
              <a:cs typeface="DM Sans" charset="0"/>
            </a:endParaRPr>
          </a:p>
        </p:txBody>
      </p:sp>
      <p:sp>
        <p:nvSpPr>
          <p:cNvPr id="4" name="Text 2"/>
          <p:cNvSpPr/>
          <p:nvPr/>
        </p:nvSpPr>
        <p:spPr>
          <a:xfrm>
            <a:off x="812785" y="4047464"/>
            <a:ext cx="10883348" cy="388614"/>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7D2DE"/>
                </a:solidFill>
                <a:latin typeface="DM Sans" pitchFamily="34" charset="0"/>
                <a:ea typeface="DM Sans" pitchFamily="34" charset="-122"/>
                <a:cs typeface="DM Sans" pitchFamily="34" charset="-120"/>
              </a:rPr>
              <a:t>Which products need a reorder, and when?</a:t>
            </a:r>
            <a:endParaRPr lang="en-US" sz="2200" dirty="0">
              <a:latin typeface="DM Sans" charset="0"/>
              <a:ea typeface="DM Sans" charset="0"/>
              <a:cs typeface="DM Sans" charset="0"/>
            </a:endParaRPr>
          </a:p>
        </p:txBody>
      </p:sp>
      <p:sp>
        <p:nvSpPr>
          <p:cNvPr id="5" name="Text 3"/>
          <p:cNvSpPr/>
          <p:nvPr/>
        </p:nvSpPr>
        <p:spPr>
          <a:xfrm>
            <a:off x="812785" y="5593145"/>
            <a:ext cx="10883348"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MySQL · Python · Streamlit · 30 October 2026</a:t>
            </a:r>
            <a:endParaRPr lang="en-US" sz="1400" dirty="0">
              <a:latin typeface="DM Sans" charset="0"/>
              <a:ea typeface="DM Sans" charset="0"/>
              <a:cs typeface="DM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5"/>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41"/>
                </a:solidFill>
                <a:latin typeface="DM Sans" pitchFamily="34" charset="0"/>
                <a:ea typeface="DM Sans" pitchFamily="34" charset="-122"/>
                <a:cs typeface="DM Sans" pitchFamily="34" charset="-120"/>
              </a:rPr>
              <a:t>The problem</a:t>
            </a:r>
            <a:endParaRPr lang="en-US" sz="3600" dirty="0">
              <a:latin typeface="DM Sans" charset="0"/>
              <a:ea typeface="DM Sans" charset="0"/>
              <a:cs typeface="DM Sans" charset="0"/>
            </a:endParaRPr>
          </a:p>
        </p:txBody>
      </p:sp>
      <p:sp>
        <p:nvSpPr>
          <p:cNvPr id="3" name="Text 1"/>
          <p:cNvSpPr/>
          <p:nvPr/>
        </p:nvSpPr>
        <p:spPr>
          <a:xfrm>
            <a:off x="812785" y="2142978"/>
            <a:ext cx="10883348" cy="751828"/>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6505E"/>
                </a:solidFill>
                <a:latin typeface="DM Sans" pitchFamily="34" charset="0"/>
                <a:ea typeface="DM Sans" pitchFamily="34" charset="-122"/>
                <a:cs typeface="DM Sans" pitchFamily="34" charset="-120"/>
              </a:rPr>
              <a:t>Too little stock loses sales. Too much stock ties up money. A manager needs three answers.</a:t>
            </a:r>
            <a:endParaRPr lang="en-US" sz="2200" dirty="0">
              <a:latin typeface="DM Sans" charset="0"/>
              <a:ea typeface="DM Sans" charset="0"/>
              <a:cs typeface="DM Sans" charset="0"/>
            </a:endParaRPr>
          </a:p>
        </p:txBody>
      </p:sp>
      <p:sp>
        <p:nvSpPr>
          <p:cNvPr id="4" name="Shape 2"/>
          <p:cNvSpPr/>
          <p:nvPr/>
        </p:nvSpPr>
        <p:spPr>
          <a:xfrm>
            <a:off x="815960" y="3699773"/>
            <a:ext cx="3380317" cy="2139054"/>
          </a:xfrm>
          <a:prstGeom prst="roundRect">
            <a:avLst>
              <a:gd name="adj" fmla="val 4601"/>
            </a:avLst>
          </a:prstGeom>
          <a:solidFill>
            <a:srgbClr val="FFFFFF"/>
          </a:solidFill>
          <a:ln w="6350">
            <a:solidFill>
              <a:srgbClr val="E1E0D8"/>
            </a:solidFill>
            <a:prstDash val="solid"/>
          </a:ln>
        </p:spPr>
      </p:sp>
      <p:sp>
        <p:nvSpPr>
          <p:cNvPr id="5" name="Text 3"/>
          <p:cNvSpPr/>
          <p:nvPr/>
        </p:nvSpPr>
        <p:spPr>
          <a:xfrm>
            <a:off x="1071416" y="3955228"/>
            <a:ext cx="2955489"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766E"/>
                </a:solidFill>
                <a:latin typeface="DM Sans" pitchFamily="34" charset="0"/>
                <a:ea typeface="DM Sans" pitchFamily="34" charset="-122"/>
                <a:cs typeface="DM Sans" pitchFamily="34" charset="-120"/>
              </a:rPr>
              <a:t>QUESTION 1</a:t>
            </a:r>
            <a:endParaRPr lang="en-US" sz="1200" dirty="0">
              <a:latin typeface="DM Sans" charset="0"/>
              <a:ea typeface="DM Sans" charset="0"/>
              <a:cs typeface="DM Sans" charset="0"/>
            </a:endParaRPr>
          </a:p>
        </p:txBody>
      </p:sp>
      <p:sp>
        <p:nvSpPr>
          <p:cNvPr id="6" name="Text 4"/>
          <p:cNvSpPr/>
          <p:nvPr/>
        </p:nvSpPr>
        <p:spPr>
          <a:xfrm>
            <a:off x="1071416" y="4270156"/>
            <a:ext cx="2955489" cy="668044"/>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B2A41"/>
                </a:solidFill>
                <a:latin typeface="DM Sans" pitchFamily="34" charset="0"/>
                <a:ea typeface="DM Sans" pitchFamily="34" charset="-122"/>
                <a:cs typeface="DM Sans" pitchFamily="34" charset="-120"/>
              </a:rPr>
              <a:t>How many units will sell?</a:t>
            </a:r>
            <a:endParaRPr lang="en-US" sz="2200" dirty="0">
              <a:latin typeface="DM Sans" charset="0"/>
              <a:ea typeface="DM Sans" charset="0"/>
              <a:cs typeface="DM Sans" charset="0"/>
            </a:endParaRPr>
          </a:p>
        </p:txBody>
      </p:sp>
      <p:sp>
        <p:nvSpPr>
          <p:cNvPr id="7" name="Text 5"/>
          <p:cNvSpPr/>
          <p:nvPr/>
        </p:nvSpPr>
        <p:spPr>
          <a:xfrm>
            <a:off x="1071416" y="5014370"/>
            <a:ext cx="2955489"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Forecast the next 30 days.</a:t>
            </a:r>
            <a:endParaRPr lang="en-US" sz="1600" dirty="0">
              <a:latin typeface="DM Sans" charset="0"/>
              <a:ea typeface="DM Sans" charset="0"/>
              <a:cs typeface="DM Sans" charset="0"/>
            </a:endParaRPr>
          </a:p>
        </p:txBody>
      </p:sp>
      <p:sp>
        <p:nvSpPr>
          <p:cNvPr id="8" name="Shape 6"/>
          <p:cNvSpPr/>
          <p:nvPr/>
        </p:nvSpPr>
        <p:spPr>
          <a:xfrm>
            <a:off x="4405769" y="3699773"/>
            <a:ext cx="3380391" cy="2139054"/>
          </a:xfrm>
          <a:prstGeom prst="roundRect">
            <a:avLst>
              <a:gd name="adj" fmla="val 4601"/>
            </a:avLst>
          </a:prstGeom>
          <a:solidFill>
            <a:srgbClr val="FFFFFF"/>
          </a:solidFill>
          <a:ln w="6350">
            <a:solidFill>
              <a:srgbClr val="E1E0D8"/>
            </a:solidFill>
            <a:prstDash val="solid"/>
          </a:ln>
        </p:spPr>
      </p:sp>
      <p:sp>
        <p:nvSpPr>
          <p:cNvPr id="9" name="Text 7"/>
          <p:cNvSpPr/>
          <p:nvPr/>
        </p:nvSpPr>
        <p:spPr>
          <a:xfrm>
            <a:off x="4661224" y="3955228"/>
            <a:ext cx="2955564"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766E"/>
                </a:solidFill>
                <a:latin typeface="DM Sans" pitchFamily="34" charset="0"/>
                <a:ea typeface="DM Sans" pitchFamily="34" charset="-122"/>
                <a:cs typeface="DM Sans" pitchFamily="34" charset="-120"/>
              </a:rPr>
              <a:t>QUESTION 2</a:t>
            </a:r>
            <a:endParaRPr lang="en-US" sz="1200" dirty="0">
              <a:latin typeface="DM Sans" charset="0"/>
              <a:ea typeface="DM Sans" charset="0"/>
              <a:cs typeface="DM Sans" charset="0"/>
            </a:endParaRPr>
          </a:p>
        </p:txBody>
      </p:sp>
      <p:sp>
        <p:nvSpPr>
          <p:cNvPr id="10" name="Text 8"/>
          <p:cNvSpPr/>
          <p:nvPr/>
        </p:nvSpPr>
        <p:spPr>
          <a:xfrm>
            <a:off x="4661224" y="4270156"/>
            <a:ext cx="2955564" cy="668044"/>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B2A41"/>
                </a:solidFill>
                <a:latin typeface="DM Sans" pitchFamily="34" charset="0"/>
                <a:ea typeface="DM Sans" pitchFamily="34" charset="-122"/>
                <a:cs typeface="DM Sans" pitchFamily="34" charset="-120"/>
              </a:rPr>
              <a:t>When do we reorder?</a:t>
            </a:r>
            <a:endParaRPr lang="en-US" sz="2200" dirty="0">
              <a:latin typeface="DM Sans" charset="0"/>
              <a:ea typeface="DM Sans" charset="0"/>
              <a:cs typeface="DM Sans" charset="0"/>
            </a:endParaRPr>
          </a:p>
        </p:txBody>
      </p:sp>
      <p:sp>
        <p:nvSpPr>
          <p:cNvPr id="11" name="Text 9"/>
          <p:cNvSpPr/>
          <p:nvPr/>
        </p:nvSpPr>
        <p:spPr>
          <a:xfrm>
            <a:off x="4661224" y="5014370"/>
            <a:ext cx="2955564" cy="5944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Reorder point and safety stock.</a:t>
            </a:r>
            <a:endParaRPr lang="en-US" sz="1600" dirty="0">
              <a:latin typeface="DM Sans" charset="0"/>
              <a:ea typeface="DM Sans" charset="0"/>
              <a:cs typeface="DM Sans" charset="0"/>
            </a:endParaRPr>
          </a:p>
        </p:txBody>
      </p:sp>
      <p:sp>
        <p:nvSpPr>
          <p:cNvPr id="12" name="Shape 10"/>
          <p:cNvSpPr/>
          <p:nvPr/>
        </p:nvSpPr>
        <p:spPr>
          <a:xfrm>
            <a:off x="7995651" y="3699773"/>
            <a:ext cx="3380317" cy="2139054"/>
          </a:xfrm>
          <a:prstGeom prst="roundRect">
            <a:avLst>
              <a:gd name="adj" fmla="val 4601"/>
            </a:avLst>
          </a:prstGeom>
          <a:solidFill>
            <a:srgbClr val="FFFFFF"/>
          </a:solidFill>
          <a:ln w="6350">
            <a:solidFill>
              <a:srgbClr val="E1E0D8"/>
            </a:solidFill>
            <a:prstDash val="solid"/>
          </a:ln>
        </p:spPr>
      </p:sp>
      <p:sp>
        <p:nvSpPr>
          <p:cNvPr id="13" name="Text 11"/>
          <p:cNvSpPr/>
          <p:nvPr/>
        </p:nvSpPr>
        <p:spPr>
          <a:xfrm>
            <a:off x="8251106" y="3955228"/>
            <a:ext cx="2955489"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766E"/>
                </a:solidFill>
                <a:latin typeface="DM Sans" pitchFamily="34" charset="0"/>
                <a:ea typeface="DM Sans" pitchFamily="34" charset="-122"/>
                <a:cs typeface="DM Sans" pitchFamily="34" charset="-120"/>
              </a:rPr>
              <a:t>QUESTION 3</a:t>
            </a:r>
            <a:endParaRPr lang="en-US" sz="1200" dirty="0">
              <a:latin typeface="DM Sans" charset="0"/>
              <a:ea typeface="DM Sans" charset="0"/>
              <a:cs typeface="DM Sans" charset="0"/>
            </a:endParaRPr>
          </a:p>
        </p:txBody>
      </p:sp>
      <p:sp>
        <p:nvSpPr>
          <p:cNvPr id="14" name="Text 12"/>
          <p:cNvSpPr/>
          <p:nvPr/>
        </p:nvSpPr>
        <p:spPr>
          <a:xfrm>
            <a:off x="8251106" y="4270156"/>
            <a:ext cx="2955489" cy="668044"/>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B2A41"/>
                </a:solidFill>
                <a:latin typeface="DM Sans" pitchFamily="34" charset="0"/>
                <a:ea typeface="DM Sans" pitchFamily="34" charset="-122"/>
                <a:cs typeface="DM Sans" pitchFamily="34" charset="-120"/>
              </a:rPr>
              <a:t>What is at risk today?</a:t>
            </a:r>
            <a:endParaRPr lang="en-US" sz="2200" dirty="0">
              <a:latin typeface="DM Sans" charset="0"/>
              <a:ea typeface="DM Sans" charset="0"/>
              <a:cs typeface="DM Sans" charset="0"/>
            </a:endParaRPr>
          </a:p>
        </p:txBody>
      </p:sp>
      <p:sp>
        <p:nvSpPr>
          <p:cNvPr id="15" name="Text 13"/>
          <p:cNvSpPr/>
          <p:nvPr/>
        </p:nvSpPr>
        <p:spPr>
          <a:xfrm>
            <a:off x="8251106" y="5014370"/>
            <a:ext cx="2955489" cy="5944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A RED, YELLOW or GREEN colour for each product.</a:t>
            </a:r>
            <a:endParaRPr lang="en-US" sz="1600" dirty="0">
              <a:latin typeface="DM Sans" charset="0"/>
              <a:ea typeface="DM Sans" charset="0"/>
              <a:cs typeface="DM Sans" charset="0"/>
            </a:endParaRPr>
          </a:p>
        </p:txBody>
      </p:sp>
      <p:sp>
        <p:nvSpPr>
          <p:cNvPr id="16" name="Text 14"/>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2</a:t>
            </a:r>
            <a:endParaRPr lang="en-US" sz="1200" dirty="0">
              <a:latin typeface="DM Sans" charset="0"/>
              <a:ea typeface="DM Sans" charset="0"/>
              <a:cs typeface="DM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6"/>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41"/>
                </a:solidFill>
                <a:latin typeface="DM Sans" pitchFamily="34" charset="0"/>
                <a:ea typeface="DM Sans" pitchFamily="34" charset="-122"/>
                <a:cs typeface="DM Sans" pitchFamily="34" charset="-120"/>
              </a:rPr>
              <a:t>The data</a:t>
            </a:r>
            <a:endParaRPr lang="en-US" sz="3600" dirty="0">
              <a:latin typeface="DM Sans" charset="0"/>
              <a:ea typeface="DM Sans" charset="0"/>
              <a:cs typeface="DM Sans" charset="0"/>
            </a:endParaRPr>
          </a:p>
        </p:txBody>
      </p:sp>
      <p:sp>
        <p:nvSpPr>
          <p:cNvPr id="3" name="Shape 1"/>
          <p:cNvSpPr/>
          <p:nvPr/>
        </p:nvSpPr>
        <p:spPr>
          <a:xfrm>
            <a:off x="815960" y="1759274"/>
            <a:ext cx="5175221" cy="1430338"/>
          </a:xfrm>
          <a:prstGeom prst="roundRect">
            <a:avLst>
              <a:gd name="adj" fmla="val 6881"/>
            </a:avLst>
          </a:prstGeom>
          <a:solidFill>
            <a:srgbClr val="FFFFFF"/>
          </a:solidFill>
          <a:ln w="6350">
            <a:solidFill>
              <a:srgbClr val="E1E0D8"/>
            </a:solidFill>
            <a:prstDash val="solid"/>
          </a:ln>
        </p:spPr>
      </p:sp>
      <p:sp>
        <p:nvSpPr>
          <p:cNvPr id="4" name="Text 2"/>
          <p:cNvSpPr/>
          <p:nvPr/>
        </p:nvSpPr>
        <p:spPr>
          <a:xfrm>
            <a:off x="1071416" y="2014730"/>
            <a:ext cx="4804240" cy="584185"/>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0F766E"/>
                </a:solidFill>
                <a:latin typeface="DM Sans" pitchFamily="34" charset="0"/>
                <a:ea typeface="DM Sans" pitchFamily="34" charset="-122"/>
                <a:cs typeface="DM Sans" pitchFamily="34" charset="-120"/>
              </a:rPr>
              <a:t>91,250</a:t>
            </a:r>
            <a:endParaRPr lang="en-US" sz="4000" dirty="0">
              <a:latin typeface="DM Sans" charset="0"/>
              <a:ea typeface="DM Sans" charset="0"/>
              <a:cs typeface="DM Sans" charset="0"/>
            </a:endParaRPr>
          </a:p>
        </p:txBody>
      </p:sp>
      <p:sp>
        <p:nvSpPr>
          <p:cNvPr id="5" name="Text 3"/>
          <p:cNvSpPr/>
          <p:nvPr/>
        </p:nvSpPr>
        <p:spPr>
          <a:xfrm>
            <a:off x="1071416" y="2649655"/>
            <a:ext cx="4804240"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daily records</a:t>
            </a:r>
            <a:endParaRPr lang="en-US" sz="1600" dirty="0">
              <a:latin typeface="DM Sans" charset="0"/>
              <a:ea typeface="DM Sans" charset="0"/>
              <a:cs typeface="DM Sans" charset="0"/>
            </a:endParaRPr>
          </a:p>
        </p:txBody>
      </p:sp>
      <p:sp>
        <p:nvSpPr>
          <p:cNvPr id="6" name="Shape 4"/>
          <p:cNvSpPr/>
          <p:nvPr/>
        </p:nvSpPr>
        <p:spPr>
          <a:xfrm>
            <a:off x="6200673" y="1759274"/>
            <a:ext cx="5175295" cy="1430338"/>
          </a:xfrm>
          <a:prstGeom prst="roundRect">
            <a:avLst>
              <a:gd name="adj" fmla="val 6881"/>
            </a:avLst>
          </a:prstGeom>
          <a:solidFill>
            <a:srgbClr val="FFFFFF"/>
          </a:solidFill>
          <a:ln w="6350">
            <a:solidFill>
              <a:srgbClr val="E1E0D8"/>
            </a:solidFill>
            <a:prstDash val="solid"/>
          </a:ln>
        </p:spPr>
      </p:sp>
      <p:sp>
        <p:nvSpPr>
          <p:cNvPr id="7" name="Text 5"/>
          <p:cNvSpPr/>
          <p:nvPr/>
        </p:nvSpPr>
        <p:spPr>
          <a:xfrm>
            <a:off x="6456128" y="2014730"/>
            <a:ext cx="4804316" cy="584185"/>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0F766E"/>
                </a:solidFill>
                <a:latin typeface="DM Sans" pitchFamily="34" charset="0"/>
                <a:ea typeface="DM Sans" pitchFamily="34" charset="-122"/>
                <a:cs typeface="DM Sans" pitchFamily="34" charset="-120"/>
              </a:rPr>
              <a:t>250</a:t>
            </a:r>
            <a:endParaRPr lang="en-US" sz="4000" dirty="0">
              <a:latin typeface="DM Sans" charset="0"/>
              <a:ea typeface="DM Sans" charset="0"/>
              <a:cs typeface="DM Sans" charset="0"/>
            </a:endParaRPr>
          </a:p>
        </p:txBody>
      </p:sp>
      <p:sp>
        <p:nvSpPr>
          <p:cNvPr id="8" name="Text 6"/>
          <p:cNvSpPr/>
          <p:nvPr/>
        </p:nvSpPr>
        <p:spPr>
          <a:xfrm>
            <a:off x="6456128" y="2649655"/>
            <a:ext cx="4804316"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product-warehouse pairs, 365 days each</a:t>
            </a:r>
            <a:endParaRPr lang="en-US" sz="1600" dirty="0">
              <a:latin typeface="DM Sans" charset="0"/>
              <a:ea typeface="DM Sans" charset="0"/>
              <a:cs typeface="DM Sans" charset="0"/>
            </a:endParaRPr>
          </a:p>
        </p:txBody>
      </p:sp>
      <p:sp>
        <p:nvSpPr>
          <p:cNvPr id="9" name="Shape 7"/>
          <p:cNvSpPr/>
          <p:nvPr/>
        </p:nvSpPr>
        <p:spPr>
          <a:xfrm>
            <a:off x="815960" y="3399103"/>
            <a:ext cx="5175221" cy="1430338"/>
          </a:xfrm>
          <a:prstGeom prst="roundRect">
            <a:avLst>
              <a:gd name="adj" fmla="val 6881"/>
            </a:avLst>
          </a:prstGeom>
          <a:solidFill>
            <a:srgbClr val="FFFFFF"/>
          </a:solidFill>
          <a:ln w="6350">
            <a:solidFill>
              <a:srgbClr val="E1E0D8"/>
            </a:solidFill>
            <a:prstDash val="solid"/>
          </a:ln>
        </p:spPr>
      </p:sp>
      <p:sp>
        <p:nvSpPr>
          <p:cNvPr id="10" name="Text 8"/>
          <p:cNvSpPr/>
          <p:nvPr/>
        </p:nvSpPr>
        <p:spPr>
          <a:xfrm>
            <a:off x="1071416" y="3654558"/>
            <a:ext cx="4804240" cy="584185"/>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0F766E"/>
                </a:solidFill>
                <a:latin typeface="DM Sans" pitchFamily="34" charset="0"/>
                <a:ea typeface="DM Sans" pitchFamily="34" charset="-122"/>
                <a:cs typeface="DM Sans" pitchFamily="34" charset="-120"/>
              </a:rPr>
              <a:t>30 to 10</a:t>
            </a:r>
            <a:endParaRPr lang="en-US" sz="4000" dirty="0">
              <a:latin typeface="DM Sans" charset="0"/>
              <a:ea typeface="DM Sans" charset="0"/>
              <a:cs typeface="DM Sans" charset="0"/>
            </a:endParaRPr>
          </a:p>
        </p:txBody>
      </p:sp>
      <p:sp>
        <p:nvSpPr>
          <p:cNvPr id="11" name="Text 9"/>
          <p:cNvSpPr/>
          <p:nvPr/>
        </p:nvSpPr>
        <p:spPr>
          <a:xfrm>
            <a:off x="1071416" y="4289485"/>
            <a:ext cx="4804240"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units a day, spring to autumn</a:t>
            </a:r>
            <a:endParaRPr lang="en-US" sz="1600" dirty="0">
              <a:latin typeface="DM Sans" charset="0"/>
              <a:ea typeface="DM Sans" charset="0"/>
              <a:cs typeface="DM Sans" charset="0"/>
            </a:endParaRPr>
          </a:p>
        </p:txBody>
      </p:sp>
      <p:sp>
        <p:nvSpPr>
          <p:cNvPr id="12" name="Shape 10"/>
          <p:cNvSpPr/>
          <p:nvPr/>
        </p:nvSpPr>
        <p:spPr>
          <a:xfrm>
            <a:off x="6200673" y="3399103"/>
            <a:ext cx="5175295" cy="1430338"/>
          </a:xfrm>
          <a:prstGeom prst="roundRect">
            <a:avLst>
              <a:gd name="adj" fmla="val 6881"/>
            </a:avLst>
          </a:prstGeom>
          <a:solidFill>
            <a:srgbClr val="FFFFFF"/>
          </a:solidFill>
          <a:ln w="6350">
            <a:solidFill>
              <a:srgbClr val="E1E0D8"/>
            </a:solidFill>
            <a:prstDash val="solid"/>
          </a:ln>
        </p:spPr>
      </p:sp>
      <p:sp>
        <p:nvSpPr>
          <p:cNvPr id="13" name="Text 11"/>
          <p:cNvSpPr/>
          <p:nvPr/>
        </p:nvSpPr>
        <p:spPr>
          <a:xfrm>
            <a:off x="6456128" y="3654558"/>
            <a:ext cx="4804316" cy="584185"/>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0F766E"/>
                </a:solidFill>
                <a:latin typeface="DM Sans" pitchFamily="34" charset="0"/>
                <a:ea typeface="DM Sans" pitchFamily="34" charset="-122"/>
                <a:cs typeface="DM Sans" pitchFamily="34" charset="-120"/>
              </a:rPr>
              <a:t>+5</a:t>
            </a:r>
            <a:endParaRPr lang="en-US" sz="4000" dirty="0">
              <a:latin typeface="DM Sans" charset="0"/>
              <a:ea typeface="DM Sans" charset="0"/>
              <a:cs typeface="DM Sans" charset="0"/>
            </a:endParaRPr>
          </a:p>
        </p:txBody>
      </p:sp>
      <p:sp>
        <p:nvSpPr>
          <p:cNvPr id="14" name="Text 12"/>
          <p:cNvSpPr/>
          <p:nvPr/>
        </p:nvSpPr>
        <p:spPr>
          <a:xfrm>
            <a:off x="6456128" y="4289485"/>
            <a:ext cx="4804316"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units on a promotion day</a:t>
            </a:r>
            <a:endParaRPr lang="en-US" sz="1600" dirty="0">
              <a:latin typeface="DM Sans" charset="0"/>
              <a:ea typeface="DM Sans" charset="0"/>
              <a:cs typeface="DM Sans" charset="0"/>
            </a:endParaRPr>
          </a:p>
        </p:txBody>
      </p:sp>
      <p:sp>
        <p:nvSpPr>
          <p:cNvPr id="15" name="Text 13"/>
          <p:cNvSpPr/>
          <p:nvPr/>
        </p:nvSpPr>
        <p:spPr>
          <a:xfrm>
            <a:off x="812785" y="5273001"/>
            <a:ext cx="10883348" cy="5944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One row is one day of one product in one warehouse. The key (date, SKU, warehouse) is proven unique in SQL. There is no weekday effect, and the supplied forecast column is only a benchmark.</a:t>
            </a:r>
            <a:endParaRPr lang="en-US" sz="1600" dirty="0">
              <a:latin typeface="DM Sans" charset="0"/>
              <a:ea typeface="DM Sans" charset="0"/>
              <a:cs typeface="DM Sans" charset="0"/>
            </a:endParaRPr>
          </a:p>
        </p:txBody>
      </p:sp>
      <p:sp>
        <p:nvSpPr>
          <p:cNvPr id="16" name="Text 14"/>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3</a:t>
            </a:r>
            <a:endParaRPr lang="en-US" sz="1200" dirty="0">
              <a:latin typeface="DM Sans" charset="0"/>
              <a:ea typeface="DM Sans" charset="0"/>
              <a:cs typeface="DM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6"/>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41"/>
                </a:solidFill>
                <a:latin typeface="DM Sans" pitchFamily="34" charset="0"/>
                <a:ea typeface="DM Sans" pitchFamily="34" charset="-122"/>
                <a:cs typeface="DM Sans" pitchFamily="34" charset="-120"/>
              </a:rPr>
              <a:t>Database design: 8 tables</a:t>
            </a:r>
            <a:endParaRPr lang="en-US" sz="3600" dirty="0">
              <a:latin typeface="DM Sans" charset="0"/>
              <a:ea typeface="DM Sans" charset="0"/>
              <a:cs typeface="DM Sans" charset="0"/>
            </a:endParaRPr>
          </a:p>
        </p:txBody>
      </p:sp>
      <p:sp>
        <p:nvSpPr>
          <p:cNvPr id="3" name="Shape 1"/>
          <p:cNvSpPr/>
          <p:nvPr/>
        </p:nvSpPr>
        <p:spPr>
          <a:xfrm>
            <a:off x="815960" y="2079347"/>
            <a:ext cx="2520936" cy="922338"/>
          </a:xfrm>
          <a:prstGeom prst="roundRect">
            <a:avLst>
              <a:gd name="adj" fmla="val 10671"/>
            </a:avLst>
          </a:prstGeom>
          <a:solidFill>
            <a:srgbClr val="FFFFFF"/>
          </a:solidFill>
          <a:ln w="6350">
            <a:solidFill>
              <a:srgbClr val="E1E0D8"/>
            </a:solidFill>
            <a:prstDash val="solid"/>
          </a:ln>
        </p:spPr>
      </p:sp>
      <p:sp>
        <p:nvSpPr>
          <p:cNvPr id="4" name="Text 2"/>
          <p:cNvSpPr/>
          <p:nvPr/>
        </p:nvSpPr>
        <p:spPr>
          <a:xfrm>
            <a:off x="1020630" y="2284017"/>
            <a:ext cx="2174944"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DM Sans" pitchFamily="34" charset="0"/>
                <a:ea typeface="DM Sans" pitchFamily="34" charset="-122"/>
                <a:cs typeface="DM Sans" pitchFamily="34" charset="-120"/>
              </a:rPr>
              <a:t>product</a:t>
            </a:r>
            <a:endParaRPr lang="en-US" sz="1400" dirty="0">
              <a:latin typeface="DM Sans" charset="0"/>
              <a:ea typeface="DM Sans" charset="0"/>
              <a:cs typeface="DM Sans" charset="0"/>
            </a:endParaRPr>
          </a:p>
        </p:txBody>
      </p:sp>
      <p:sp>
        <p:nvSpPr>
          <p:cNvPr id="5" name="Text 3"/>
          <p:cNvSpPr/>
          <p:nvPr/>
        </p:nvSpPr>
        <p:spPr>
          <a:xfrm>
            <a:off x="1020630" y="2583658"/>
            <a:ext cx="2174944"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E"/>
                </a:solidFill>
                <a:latin typeface="DM Sans" pitchFamily="34" charset="0"/>
                <a:ea typeface="DM Sans" pitchFamily="34" charset="-122"/>
                <a:cs typeface="DM Sans" pitchFamily="34" charset="-120"/>
              </a:rPr>
              <a:t>list of products</a:t>
            </a:r>
            <a:endParaRPr lang="en-US" sz="1200" dirty="0">
              <a:latin typeface="DM Sans" charset="0"/>
              <a:ea typeface="DM Sans" charset="0"/>
              <a:cs typeface="DM Sans" charset="0"/>
            </a:endParaRPr>
          </a:p>
        </p:txBody>
      </p:sp>
      <p:sp>
        <p:nvSpPr>
          <p:cNvPr id="6" name="Shape 4"/>
          <p:cNvSpPr/>
          <p:nvPr/>
        </p:nvSpPr>
        <p:spPr>
          <a:xfrm>
            <a:off x="3495602" y="2079347"/>
            <a:ext cx="2521009" cy="922338"/>
          </a:xfrm>
          <a:prstGeom prst="roundRect">
            <a:avLst>
              <a:gd name="adj" fmla="val 10671"/>
            </a:avLst>
          </a:prstGeom>
          <a:solidFill>
            <a:srgbClr val="FFFFFF"/>
          </a:solidFill>
          <a:ln w="6350">
            <a:solidFill>
              <a:srgbClr val="E1E0D8"/>
            </a:solidFill>
            <a:prstDash val="solid"/>
          </a:ln>
        </p:spPr>
      </p:sp>
      <p:sp>
        <p:nvSpPr>
          <p:cNvPr id="7" name="Text 5"/>
          <p:cNvSpPr/>
          <p:nvPr/>
        </p:nvSpPr>
        <p:spPr>
          <a:xfrm>
            <a:off x="3700272" y="2284017"/>
            <a:ext cx="2175019"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DM Sans" pitchFamily="34" charset="0"/>
                <a:ea typeface="DM Sans" pitchFamily="34" charset="-122"/>
                <a:cs typeface="DM Sans" pitchFamily="34" charset="-120"/>
              </a:rPr>
              <a:t>warehouse</a:t>
            </a:r>
            <a:endParaRPr lang="en-US" sz="1400" dirty="0">
              <a:latin typeface="DM Sans" charset="0"/>
              <a:ea typeface="DM Sans" charset="0"/>
              <a:cs typeface="DM Sans" charset="0"/>
            </a:endParaRPr>
          </a:p>
        </p:txBody>
      </p:sp>
      <p:sp>
        <p:nvSpPr>
          <p:cNvPr id="8" name="Text 6"/>
          <p:cNvSpPr/>
          <p:nvPr/>
        </p:nvSpPr>
        <p:spPr>
          <a:xfrm>
            <a:off x="3700272" y="2583658"/>
            <a:ext cx="2175019"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E"/>
                </a:solidFill>
                <a:latin typeface="DM Sans" pitchFamily="34" charset="0"/>
                <a:ea typeface="DM Sans" pitchFamily="34" charset="-122"/>
                <a:cs typeface="DM Sans" pitchFamily="34" charset="-120"/>
              </a:rPr>
              <a:t>list of warehouses</a:t>
            </a:r>
            <a:endParaRPr lang="en-US" sz="1200" dirty="0">
              <a:latin typeface="DM Sans" charset="0"/>
              <a:ea typeface="DM Sans" charset="0"/>
              <a:cs typeface="DM Sans" charset="0"/>
            </a:endParaRPr>
          </a:p>
        </p:txBody>
      </p:sp>
      <p:sp>
        <p:nvSpPr>
          <p:cNvPr id="9" name="Shape 7"/>
          <p:cNvSpPr/>
          <p:nvPr/>
        </p:nvSpPr>
        <p:spPr>
          <a:xfrm>
            <a:off x="6175317" y="2079347"/>
            <a:ext cx="2520936" cy="922338"/>
          </a:xfrm>
          <a:prstGeom prst="roundRect">
            <a:avLst>
              <a:gd name="adj" fmla="val 10671"/>
            </a:avLst>
          </a:prstGeom>
          <a:solidFill>
            <a:srgbClr val="FFFFFF"/>
          </a:solidFill>
          <a:ln w="6350">
            <a:solidFill>
              <a:srgbClr val="E1E0D8"/>
            </a:solidFill>
            <a:prstDash val="solid"/>
          </a:ln>
        </p:spPr>
      </p:sp>
      <p:sp>
        <p:nvSpPr>
          <p:cNvPr id="10" name="Text 8"/>
          <p:cNvSpPr/>
          <p:nvPr/>
        </p:nvSpPr>
        <p:spPr>
          <a:xfrm>
            <a:off x="6379987" y="2284017"/>
            <a:ext cx="2174944"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DM Sans" pitchFamily="34" charset="0"/>
                <a:ea typeface="DM Sans" pitchFamily="34" charset="-122"/>
                <a:cs typeface="DM Sans" pitchFamily="34" charset="-120"/>
              </a:rPr>
              <a:t>supplier</a:t>
            </a:r>
            <a:endParaRPr lang="en-US" sz="1400" dirty="0">
              <a:latin typeface="DM Sans" charset="0"/>
              <a:ea typeface="DM Sans" charset="0"/>
              <a:cs typeface="DM Sans" charset="0"/>
            </a:endParaRPr>
          </a:p>
        </p:txBody>
      </p:sp>
      <p:sp>
        <p:nvSpPr>
          <p:cNvPr id="11" name="Text 9"/>
          <p:cNvSpPr/>
          <p:nvPr/>
        </p:nvSpPr>
        <p:spPr>
          <a:xfrm>
            <a:off x="6379987" y="2583658"/>
            <a:ext cx="2174944"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E"/>
                </a:solidFill>
                <a:latin typeface="DM Sans" pitchFamily="34" charset="0"/>
                <a:ea typeface="DM Sans" pitchFamily="34" charset="-122"/>
                <a:cs typeface="DM Sans" pitchFamily="34" charset="-120"/>
              </a:rPr>
              <a:t>list of suppliers</a:t>
            </a:r>
            <a:endParaRPr lang="en-US" sz="1200" dirty="0">
              <a:latin typeface="DM Sans" charset="0"/>
              <a:ea typeface="DM Sans" charset="0"/>
              <a:cs typeface="DM Sans" charset="0"/>
            </a:endParaRPr>
          </a:p>
        </p:txBody>
      </p:sp>
      <p:sp>
        <p:nvSpPr>
          <p:cNvPr id="12" name="Shape 10"/>
          <p:cNvSpPr/>
          <p:nvPr/>
        </p:nvSpPr>
        <p:spPr>
          <a:xfrm>
            <a:off x="8854959" y="2079347"/>
            <a:ext cx="2521009" cy="922338"/>
          </a:xfrm>
          <a:prstGeom prst="roundRect">
            <a:avLst>
              <a:gd name="adj" fmla="val 10671"/>
            </a:avLst>
          </a:prstGeom>
          <a:solidFill>
            <a:srgbClr val="FFFFFF"/>
          </a:solidFill>
          <a:ln w="6350">
            <a:solidFill>
              <a:srgbClr val="E1E0D8"/>
            </a:solidFill>
            <a:prstDash val="solid"/>
          </a:ln>
        </p:spPr>
      </p:sp>
      <p:sp>
        <p:nvSpPr>
          <p:cNvPr id="13" name="Text 11"/>
          <p:cNvSpPr/>
          <p:nvPr/>
        </p:nvSpPr>
        <p:spPr>
          <a:xfrm>
            <a:off x="9059628" y="2284017"/>
            <a:ext cx="2175019"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DM Sans" pitchFamily="34" charset="0"/>
                <a:ea typeface="DM Sans" pitchFamily="34" charset="-122"/>
                <a:cs typeface="DM Sans" pitchFamily="34" charset="-120"/>
              </a:rPr>
              <a:t>region</a:t>
            </a:r>
            <a:endParaRPr lang="en-US" sz="1400" dirty="0">
              <a:latin typeface="DM Sans" charset="0"/>
              <a:ea typeface="DM Sans" charset="0"/>
              <a:cs typeface="DM Sans" charset="0"/>
            </a:endParaRPr>
          </a:p>
        </p:txBody>
      </p:sp>
      <p:sp>
        <p:nvSpPr>
          <p:cNvPr id="14" name="Text 12"/>
          <p:cNvSpPr/>
          <p:nvPr/>
        </p:nvSpPr>
        <p:spPr>
          <a:xfrm>
            <a:off x="9059628" y="2583658"/>
            <a:ext cx="2175019"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E"/>
                </a:solidFill>
                <a:latin typeface="DM Sans" pitchFamily="34" charset="0"/>
                <a:ea typeface="DM Sans" pitchFamily="34" charset="-122"/>
                <a:cs typeface="DM Sans" pitchFamily="34" charset="-120"/>
              </a:rPr>
              <a:t>list of regions</a:t>
            </a:r>
            <a:endParaRPr lang="en-US" sz="1200" dirty="0">
              <a:latin typeface="DM Sans" charset="0"/>
              <a:ea typeface="DM Sans" charset="0"/>
              <a:cs typeface="DM Sans" charset="0"/>
            </a:endParaRPr>
          </a:p>
        </p:txBody>
      </p:sp>
      <p:sp>
        <p:nvSpPr>
          <p:cNvPr id="15" name="Shape 13"/>
          <p:cNvSpPr/>
          <p:nvPr/>
        </p:nvSpPr>
        <p:spPr>
          <a:xfrm>
            <a:off x="815960" y="3160390"/>
            <a:ext cx="2520936" cy="1349052"/>
          </a:xfrm>
          <a:prstGeom prst="roundRect">
            <a:avLst>
              <a:gd name="adj" fmla="val 7296"/>
            </a:avLst>
          </a:prstGeom>
          <a:solidFill>
            <a:srgbClr val="DDEFEC"/>
          </a:solidFill>
          <a:ln w="6350">
            <a:solidFill>
              <a:srgbClr val="B7DAD4"/>
            </a:solidFill>
            <a:prstDash val="solid"/>
          </a:ln>
        </p:spPr>
      </p:sp>
      <p:sp>
        <p:nvSpPr>
          <p:cNvPr id="16" name="Text 14"/>
          <p:cNvSpPr/>
          <p:nvPr/>
        </p:nvSpPr>
        <p:spPr>
          <a:xfrm>
            <a:off x="1020630" y="3365060"/>
            <a:ext cx="2174944"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DM Sans" pitchFamily="34" charset="0"/>
                <a:ea typeface="DM Sans" pitchFamily="34" charset="-122"/>
                <a:cs typeface="DM Sans" pitchFamily="34" charset="-120"/>
              </a:rPr>
              <a:t>sku_warehouse</a:t>
            </a:r>
            <a:endParaRPr lang="en-US" sz="1400" dirty="0">
              <a:latin typeface="DM Sans" charset="0"/>
              <a:ea typeface="DM Sans" charset="0"/>
              <a:cs typeface="DM Sans" charset="0"/>
            </a:endParaRPr>
          </a:p>
        </p:txBody>
      </p:sp>
      <p:sp>
        <p:nvSpPr>
          <p:cNvPr id="17" name="Text 15"/>
          <p:cNvSpPr/>
          <p:nvPr/>
        </p:nvSpPr>
        <p:spPr>
          <a:xfrm>
            <a:off x="1020630" y="3664700"/>
            <a:ext cx="2174944"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04D"/>
                </a:solidFill>
                <a:latin typeface="DM Sans" pitchFamily="34" charset="0"/>
                <a:ea typeface="DM Sans" pitchFamily="34" charset="-122"/>
                <a:cs typeface="DM Sans" pitchFamily="34" charset="-120"/>
              </a:rPr>
              <a:t>supplier, lead time, reorder point, prices</a:t>
            </a:r>
            <a:endParaRPr lang="en-US" sz="1200" dirty="0">
              <a:latin typeface="DM Sans" charset="0"/>
              <a:ea typeface="DM Sans" charset="0"/>
              <a:cs typeface="DM Sans" charset="0"/>
            </a:endParaRPr>
          </a:p>
        </p:txBody>
      </p:sp>
      <p:sp>
        <p:nvSpPr>
          <p:cNvPr id="18" name="Shape 16"/>
          <p:cNvSpPr/>
          <p:nvPr/>
        </p:nvSpPr>
        <p:spPr>
          <a:xfrm>
            <a:off x="3495602" y="3160390"/>
            <a:ext cx="2521009" cy="1349052"/>
          </a:xfrm>
          <a:prstGeom prst="roundRect">
            <a:avLst>
              <a:gd name="adj" fmla="val 7296"/>
            </a:avLst>
          </a:prstGeom>
          <a:solidFill>
            <a:srgbClr val="DDEFEC"/>
          </a:solidFill>
          <a:ln w="6350">
            <a:solidFill>
              <a:srgbClr val="B7DAD4"/>
            </a:solidFill>
            <a:prstDash val="solid"/>
          </a:ln>
        </p:spPr>
      </p:sp>
      <p:sp>
        <p:nvSpPr>
          <p:cNvPr id="19" name="Text 17"/>
          <p:cNvSpPr/>
          <p:nvPr/>
        </p:nvSpPr>
        <p:spPr>
          <a:xfrm>
            <a:off x="3700272" y="3365060"/>
            <a:ext cx="2175019"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DM Sans" pitchFamily="34" charset="0"/>
                <a:ea typeface="DM Sans" pitchFamily="34" charset="-122"/>
                <a:cs typeface="DM Sans" pitchFamily="34" charset="-120"/>
              </a:rPr>
              <a:t>daily_record</a:t>
            </a:r>
            <a:endParaRPr lang="en-US" sz="1400" dirty="0">
              <a:latin typeface="DM Sans" charset="0"/>
              <a:ea typeface="DM Sans" charset="0"/>
              <a:cs typeface="DM Sans" charset="0"/>
            </a:endParaRPr>
          </a:p>
        </p:txBody>
      </p:sp>
      <p:sp>
        <p:nvSpPr>
          <p:cNvPr id="20" name="Text 18"/>
          <p:cNvSpPr/>
          <p:nvPr/>
        </p:nvSpPr>
        <p:spPr>
          <a:xfrm>
            <a:off x="3700272" y="3664700"/>
            <a:ext cx="2175019"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04D"/>
                </a:solidFill>
                <a:latin typeface="DM Sans" pitchFamily="34" charset="0"/>
                <a:ea typeface="DM Sans" pitchFamily="34" charset="-122"/>
                <a:cs typeface="DM Sans" pitchFamily="34" charset="-120"/>
              </a:rPr>
              <a:t>units sold, stock, orders, promotion</a:t>
            </a:r>
            <a:endParaRPr lang="en-US" sz="1200" dirty="0">
              <a:latin typeface="DM Sans" charset="0"/>
              <a:ea typeface="DM Sans" charset="0"/>
              <a:cs typeface="DM Sans" charset="0"/>
            </a:endParaRPr>
          </a:p>
        </p:txBody>
      </p:sp>
      <p:sp>
        <p:nvSpPr>
          <p:cNvPr id="21" name="Shape 19"/>
          <p:cNvSpPr/>
          <p:nvPr/>
        </p:nvSpPr>
        <p:spPr>
          <a:xfrm>
            <a:off x="6175317" y="3160390"/>
            <a:ext cx="2520936" cy="1349052"/>
          </a:xfrm>
          <a:prstGeom prst="roundRect">
            <a:avLst>
              <a:gd name="adj" fmla="val 7296"/>
            </a:avLst>
          </a:prstGeom>
          <a:solidFill>
            <a:srgbClr val="DDEFEC"/>
          </a:solidFill>
          <a:ln w="6350">
            <a:solidFill>
              <a:srgbClr val="B7DAD4"/>
            </a:solidFill>
            <a:prstDash val="solid"/>
          </a:ln>
        </p:spPr>
      </p:sp>
      <p:sp>
        <p:nvSpPr>
          <p:cNvPr id="22" name="Text 20"/>
          <p:cNvSpPr/>
          <p:nvPr/>
        </p:nvSpPr>
        <p:spPr>
          <a:xfrm>
            <a:off x="6379987" y="3365060"/>
            <a:ext cx="2174944"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DM Sans" pitchFamily="34" charset="0"/>
                <a:ea typeface="DM Sans" pitchFamily="34" charset="-122"/>
                <a:cs typeface="DM Sans" pitchFamily="34" charset="-120"/>
              </a:rPr>
              <a:t>forecast</a:t>
            </a:r>
            <a:endParaRPr lang="en-US" sz="1400" dirty="0">
              <a:latin typeface="DM Sans" charset="0"/>
              <a:ea typeface="DM Sans" charset="0"/>
              <a:cs typeface="DM Sans" charset="0"/>
            </a:endParaRPr>
          </a:p>
        </p:txBody>
      </p:sp>
      <p:sp>
        <p:nvSpPr>
          <p:cNvPr id="23" name="Text 21"/>
          <p:cNvSpPr/>
          <p:nvPr/>
        </p:nvSpPr>
        <p:spPr>
          <a:xfrm>
            <a:off x="6379987" y="3664700"/>
            <a:ext cx="2174944"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04D"/>
                </a:solidFill>
                <a:latin typeface="DM Sans" pitchFamily="34" charset="0"/>
                <a:ea typeface="DM Sans" pitchFamily="34" charset="-122"/>
                <a:cs typeface="DM Sans" pitchFamily="34" charset="-120"/>
              </a:rPr>
              <a:t>forecast_units, lower_80, upper_80, actual_units</a:t>
            </a:r>
            <a:endParaRPr lang="en-US" sz="1200" dirty="0">
              <a:latin typeface="DM Sans" charset="0"/>
              <a:ea typeface="DM Sans" charset="0"/>
              <a:cs typeface="DM Sans" charset="0"/>
            </a:endParaRPr>
          </a:p>
        </p:txBody>
      </p:sp>
      <p:sp>
        <p:nvSpPr>
          <p:cNvPr id="24" name="Shape 22"/>
          <p:cNvSpPr/>
          <p:nvPr/>
        </p:nvSpPr>
        <p:spPr>
          <a:xfrm>
            <a:off x="8854959" y="3160390"/>
            <a:ext cx="2521009" cy="1349052"/>
          </a:xfrm>
          <a:prstGeom prst="roundRect">
            <a:avLst>
              <a:gd name="adj" fmla="val 7296"/>
            </a:avLst>
          </a:prstGeom>
          <a:solidFill>
            <a:srgbClr val="DDEFEC"/>
          </a:solidFill>
          <a:ln w="6350">
            <a:solidFill>
              <a:srgbClr val="B7DAD4"/>
            </a:solidFill>
            <a:prstDash val="solid"/>
          </a:ln>
        </p:spPr>
      </p:sp>
      <p:sp>
        <p:nvSpPr>
          <p:cNvPr id="25" name="Text 23"/>
          <p:cNvSpPr/>
          <p:nvPr/>
        </p:nvSpPr>
        <p:spPr>
          <a:xfrm>
            <a:off x="9059628" y="3365060"/>
            <a:ext cx="2175019"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DM Sans" pitchFamily="34" charset="0"/>
                <a:ea typeface="DM Sans" pitchFamily="34" charset="-122"/>
                <a:cs typeface="DM Sans" pitchFamily="34" charset="-120"/>
              </a:rPr>
              <a:t>inventory_analytics</a:t>
            </a:r>
            <a:endParaRPr lang="en-US" sz="1400" dirty="0">
              <a:latin typeface="DM Sans" charset="0"/>
              <a:ea typeface="DM Sans" charset="0"/>
              <a:cs typeface="DM Sans" charset="0"/>
            </a:endParaRPr>
          </a:p>
        </p:txBody>
      </p:sp>
      <p:sp>
        <p:nvSpPr>
          <p:cNvPr id="26" name="Text 24"/>
          <p:cNvSpPr/>
          <p:nvPr/>
        </p:nvSpPr>
        <p:spPr>
          <a:xfrm>
            <a:off x="9059628" y="3664700"/>
            <a:ext cx="2175019" cy="66547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04D"/>
                </a:solidFill>
                <a:latin typeface="DM Sans" pitchFamily="34" charset="0"/>
                <a:ea typeface="DM Sans" pitchFamily="34" charset="-122"/>
                <a:cs typeface="DM Sans" pitchFamily="34" charset="-120"/>
              </a:rPr>
              <a:t>stock, demand, safety stock, reorder point, days of stock, excess, risk</a:t>
            </a:r>
            <a:endParaRPr lang="en-US" sz="1200" dirty="0">
              <a:latin typeface="DM Sans" charset="0"/>
              <a:ea typeface="DM Sans" charset="0"/>
              <a:cs typeface="DM Sans" charset="0"/>
            </a:endParaRPr>
          </a:p>
        </p:txBody>
      </p:sp>
      <p:sp>
        <p:nvSpPr>
          <p:cNvPr id="27" name="Text 25"/>
          <p:cNvSpPr/>
          <p:nvPr/>
        </p:nvSpPr>
        <p:spPr>
          <a:xfrm>
            <a:off x="812785" y="5273001"/>
            <a:ext cx="10883348" cy="5944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Supplier, lead time and prices depend only on the (product, warehouse) pair, so they are stored once in sku_warehouse, not on 365 daily rows. I proved this with SQL.</a:t>
            </a:r>
            <a:endParaRPr lang="en-US" sz="1600" dirty="0">
              <a:latin typeface="DM Sans" charset="0"/>
              <a:ea typeface="DM Sans" charset="0"/>
              <a:cs typeface="DM Sans" charset="0"/>
            </a:endParaRPr>
          </a:p>
        </p:txBody>
      </p:sp>
      <p:sp>
        <p:nvSpPr>
          <p:cNvPr id="28" name="Text 26"/>
          <p:cNvSpPr/>
          <p:nvPr/>
        </p:nvSpPr>
        <p:spPr>
          <a:xfrm>
            <a:off x="812785" y="6238216"/>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4</a:t>
            </a:r>
            <a:endParaRPr lang="en-US" sz="1200" dirty="0">
              <a:latin typeface="DM Sans" charset="0"/>
              <a:ea typeface="DM Sans" charset="0"/>
              <a:cs typeface="DM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8"/>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41"/>
                </a:solidFill>
                <a:latin typeface="DM Sans" pitchFamily="34" charset="0"/>
                <a:ea typeface="DM Sans" pitchFamily="34" charset="-122"/>
                <a:cs typeface="DM Sans" pitchFamily="34" charset="-120"/>
              </a:rPr>
              <a:t>How the pieces fit</a:t>
            </a:r>
            <a:endParaRPr lang="en-US" sz="3600" dirty="0">
              <a:latin typeface="DM Sans" charset="0"/>
              <a:ea typeface="DM Sans" charset="0"/>
              <a:cs typeface="DM Sans" charset="0"/>
            </a:endParaRPr>
          </a:p>
        </p:txBody>
      </p:sp>
      <p:sp>
        <p:nvSpPr>
          <p:cNvPr id="3" name="Shape 1"/>
          <p:cNvSpPr/>
          <p:nvPr/>
        </p:nvSpPr>
        <p:spPr>
          <a:xfrm>
            <a:off x="815960" y="2969081"/>
            <a:ext cx="1700580" cy="856412"/>
          </a:xfrm>
          <a:prstGeom prst="roundRect">
            <a:avLst>
              <a:gd name="adj" fmla="val 11493"/>
            </a:avLst>
          </a:prstGeom>
          <a:solidFill>
            <a:srgbClr val="FFFFFF"/>
          </a:solidFill>
          <a:ln w="6350">
            <a:solidFill>
              <a:srgbClr val="E1E0D8"/>
            </a:solidFill>
            <a:prstDash val="solid"/>
          </a:ln>
        </p:spPr>
      </p:sp>
      <p:sp>
        <p:nvSpPr>
          <p:cNvPr id="4" name="Text 2"/>
          <p:cNvSpPr/>
          <p:nvPr/>
        </p:nvSpPr>
        <p:spPr>
          <a:xfrm>
            <a:off x="969845" y="3122966"/>
            <a:ext cx="14436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DM Sans" pitchFamily="34" charset="0"/>
                <a:ea typeface="DM Sans" pitchFamily="34" charset="-122"/>
                <a:cs typeface="DM Sans" pitchFamily="34" charset="-120"/>
              </a:rPr>
              <a:t>CSV file</a:t>
            </a:r>
            <a:endParaRPr lang="en-US" sz="1600" dirty="0">
              <a:latin typeface="DM Sans" charset="0"/>
              <a:ea typeface="DM Sans" charset="0"/>
              <a:cs typeface="DM Sans" charset="0"/>
            </a:endParaRPr>
          </a:p>
        </p:txBody>
      </p:sp>
      <p:sp>
        <p:nvSpPr>
          <p:cNvPr id="5" name="Text 3"/>
          <p:cNvSpPr/>
          <p:nvPr/>
        </p:nvSpPr>
        <p:spPr>
          <a:xfrm>
            <a:off x="969845" y="3458254"/>
            <a:ext cx="1443611"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E"/>
                </a:solidFill>
                <a:latin typeface="DM Sans" pitchFamily="34" charset="0"/>
                <a:ea typeface="DM Sans" pitchFamily="34" charset="-122"/>
                <a:cs typeface="DM Sans" pitchFamily="34" charset="-120"/>
              </a:rPr>
              <a:t>91,250 rows</a:t>
            </a:r>
            <a:endParaRPr lang="en-US" sz="1200" dirty="0">
              <a:latin typeface="DM Sans" charset="0"/>
              <a:ea typeface="DM Sans" charset="0"/>
              <a:cs typeface="DM Sans" charset="0"/>
            </a:endParaRPr>
          </a:p>
        </p:txBody>
      </p:sp>
      <p:pic>
        <p:nvPicPr>
          <p:cNvPr id="6" name="Image 0" descr="arrow-right">    </p:cNvPr>
          <p:cNvPicPr>
            <a:picLocks noChangeAspect="1"/>
          </p:cNvPicPr>
          <p:nvPr/>
        </p:nvPicPr>
        <p:blipFill>
          <a:blip r:embed="rId1"/>
          <a:srcRect l="-12" r="-12" t="0" b="0"/>
          <a:stretch/>
        </p:blipFill>
        <p:spPr>
          <a:xfrm>
            <a:off x="2621286" y="3321109"/>
            <a:ext cx="304785" cy="152356"/>
          </a:xfrm>
          <a:prstGeom prst="rect">
            <a:avLst/>
          </a:prstGeom>
        </p:spPr>
      </p:pic>
      <p:sp>
        <p:nvSpPr>
          <p:cNvPr id="7" name="Shape 4"/>
          <p:cNvSpPr/>
          <p:nvPr/>
        </p:nvSpPr>
        <p:spPr>
          <a:xfrm>
            <a:off x="3030817" y="2862368"/>
            <a:ext cx="1700580" cy="1069769"/>
          </a:xfrm>
          <a:prstGeom prst="roundRect">
            <a:avLst>
              <a:gd name="adj" fmla="val 9201"/>
            </a:avLst>
          </a:prstGeom>
          <a:solidFill>
            <a:srgbClr val="FFFFFF"/>
          </a:solidFill>
          <a:ln w="6350">
            <a:solidFill>
              <a:srgbClr val="E1E0D8"/>
            </a:solidFill>
            <a:prstDash val="solid"/>
          </a:ln>
        </p:spPr>
      </p:sp>
      <p:sp>
        <p:nvSpPr>
          <p:cNvPr id="8" name="Text 5"/>
          <p:cNvSpPr/>
          <p:nvPr/>
        </p:nvSpPr>
        <p:spPr>
          <a:xfrm>
            <a:off x="3184702" y="3016250"/>
            <a:ext cx="154352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DM Sans" pitchFamily="34" charset="0"/>
                <a:ea typeface="DM Sans" pitchFamily="34" charset="-122"/>
                <a:cs typeface="DM Sans" pitchFamily="34" charset="-120"/>
              </a:rPr>
              <a:t>MySQL tables</a:t>
            </a:r>
            <a:endParaRPr lang="en-US" sz="1600" dirty="0">
              <a:latin typeface="DM Sans" charset="0"/>
              <a:ea typeface="DM Sans" charset="0"/>
              <a:cs typeface="DM Sans" charset="0"/>
            </a:endParaRPr>
          </a:p>
        </p:txBody>
      </p:sp>
      <p:sp>
        <p:nvSpPr>
          <p:cNvPr id="9" name="Text 6"/>
          <p:cNvSpPr/>
          <p:nvPr/>
        </p:nvSpPr>
        <p:spPr>
          <a:xfrm>
            <a:off x="3184702" y="3351538"/>
            <a:ext cx="144361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E"/>
                </a:solidFill>
                <a:latin typeface="DM Sans" pitchFamily="34" charset="0"/>
                <a:ea typeface="DM Sans" pitchFamily="34" charset="-122"/>
                <a:cs typeface="DM Sans" pitchFamily="34" charset="-120"/>
              </a:rPr>
              <a:t>raw, then 8 normalized tables</a:t>
            </a:r>
            <a:endParaRPr lang="en-US" sz="1200" dirty="0">
              <a:latin typeface="DM Sans" charset="0"/>
              <a:ea typeface="DM Sans" charset="0"/>
              <a:cs typeface="DM Sans" charset="0"/>
            </a:endParaRPr>
          </a:p>
        </p:txBody>
      </p:sp>
      <p:pic>
        <p:nvPicPr>
          <p:cNvPr id="10" name="Image 1" descr="arrow-right">    </p:cNvPr>
          <p:cNvPicPr>
            <a:picLocks noChangeAspect="1"/>
          </p:cNvPicPr>
          <p:nvPr/>
        </p:nvPicPr>
        <p:blipFill>
          <a:blip r:embed="rId2"/>
          <a:srcRect l="-12" r="-12" t="0" b="0"/>
          <a:stretch/>
        </p:blipFill>
        <p:spPr>
          <a:xfrm>
            <a:off x="4836143" y="3321109"/>
            <a:ext cx="304785" cy="152356"/>
          </a:xfrm>
          <a:prstGeom prst="rect">
            <a:avLst/>
          </a:prstGeom>
        </p:spPr>
      </p:pic>
      <p:sp>
        <p:nvSpPr>
          <p:cNvPr id="11" name="Shape 7"/>
          <p:cNvSpPr/>
          <p:nvPr/>
        </p:nvSpPr>
        <p:spPr>
          <a:xfrm>
            <a:off x="5245674" y="2755726"/>
            <a:ext cx="1700580" cy="1283126"/>
          </a:xfrm>
          <a:prstGeom prst="roundRect">
            <a:avLst>
              <a:gd name="adj" fmla="val 7671"/>
            </a:avLst>
          </a:prstGeom>
          <a:solidFill>
            <a:srgbClr val="FFFFFF"/>
          </a:solidFill>
          <a:ln w="6350">
            <a:solidFill>
              <a:srgbClr val="E1E0D8"/>
            </a:solidFill>
            <a:prstDash val="solid"/>
          </a:ln>
        </p:spPr>
      </p:sp>
      <p:sp>
        <p:nvSpPr>
          <p:cNvPr id="12" name="Text 8"/>
          <p:cNvSpPr/>
          <p:nvPr/>
        </p:nvSpPr>
        <p:spPr>
          <a:xfrm>
            <a:off x="5399558" y="2909608"/>
            <a:ext cx="14436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DM Sans" pitchFamily="34" charset="0"/>
                <a:ea typeface="DM Sans" pitchFamily="34" charset="-122"/>
                <a:cs typeface="DM Sans" pitchFamily="34" charset="-120"/>
              </a:rPr>
              <a:t>Python</a:t>
            </a:r>
            <a:endParaRPr lang="en-US" sz="1600" dirty="0">
              <a:latin typeface="DM Sans" charset="0"/>
              <a:ea typeface="DM Sans" charset="0"/>
              <a:cs typeface="DM Sans" charset="0"/>
            </a:endParaRPr>
          </a:p>
        </p:txBody>
      </p:sp>
      <p:sp>
        <p:nvSpPr>
          <p:cNvPr id="13" name="Text 9"/>
          <p:cNvSpPr/>
          <p:nvPr/>
        </p:nvSpPr>
        <p:spPr>
          <a:xfrm>
            <a:off x="5399558" y="3244897"/>
            <a:ext cx="1443611" cy="66547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E"/>
                </a:solidFill>
                <a:latin typeface="DM Sans" pitchFamily="34" charset="0"/>
                <a:ea typeface="DM Sans" pitchFamily="34" charset="-122"/>
                <a:cs typeface="DM Sans" pitchFamily="34" charset="-120"/>
              </a:rPr>
              <a:t>forecast and risk, saved back to MySQL</a:t>
            </a:r>
            <a:endParaRPr lang="en-US" sz="1200" dirty="0">
              <a:latin typeface="DM Sans" charset="0"/>
              <a:ea typeface="DM Sans" charset="0"/>
              <a:cs typeface="DM Sans" charset="0"/>
            </a:endParaRPr>
          </a:p>
        </p:txBody>
      </p:sp>
      <p:pic>
        <p:nvPicPr>
          <p:cNvPr id="14" name="Image 2" descr="arrow-right">    </p:cNvPr>
          <p:cNvPicPr>
            <a:picLocks noChangeAspect="1"/>
          </p:cNvPicPr>
          <p:nvPr/>
        </p:nvPicPr>
        <p:blipFill>
          <a:blip r:embed="rId3"/>
          <a:srcRect l="-12" r="-12" t="0" b="0"/>
          <a:stretch/>
        </p:blipFill>
        <p:spPr>
          <a:xfrm>
            <a:off x="7051000" y="3321109"/>
            <a:ext cx="304785" cy="152356"/>
          </a:xfrm>
          <a:prstGeom prst="rect">
            <a:avLst/>
          </a:prstGeom>
        </p:spPr>
      </p:pic>
      <p:sp>
        <p:nvSpPr>
          <p:cNvPr id="15" name="Shape 10"/>
          <p:cNvSpPr/>
          <p:nvPr/>
        </p:nvSpPr>
        <p:spPr>
          <a:xfrm>
            <a:off x="7460531" y="2862368"/>
            <a:ext cx="1700580" cy="1069769"/>
          </a:xfrm>
          <a:prstGeom prst="roundRect">
            <a:avLst>
              <a:gd name="adj" fmla="val 9201"/>
            </a:avLst>
          </a:prstGeom>
          <a:solidFill>
            <a:srgbClr val="FFFFFF"/>
          </a:solidFill>
          <a:ln w="6350">
            <a:solidFill>
              <a:srgbClr val="E1E0D8"/>
            </a:solidFill>
            <a:prstDash val="solid"/>
          </a:ln>
        </p:spPr>
      </p:sp>
      <p:sp>
        <p:nvSpPr>
          <p:cNvPr id="16" name="Text 11"/>
          <p:cNvSpPr/>
          <p:nvPr/>
        </p:nvSpPr>
        <p:spPr>
          <a:xfrm>
            <a:off x="7614415" y="3016250"/>
            <a:ext cx="14436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DM Sans" pitchFamily="34" charset="0"/>
                <a:ea typeface="DM Sans" pitchFamily="34" charset="-122"/>
                <a:cs typeface="DM Sans" pitchFamily="34" charset="-120"/>
              </a:rPr>
              <a:t>MySQL views</a:t>
            </a:r>
            <a:endParaRPr lang="en-US" sz="1600" dirty="0">
              <a:latin typeface="DM Sans" charset="0"/>
              <a:ea typeface="DM Sans" charset="0"/>
              <a:cs typeface="DM Sans" charset="0"/>
            </a:endParaRPr>
          </a:p>
        </p:txBody>
      </p:sp>
      <p:sp>
        <p:nvSpPr>
          <p:cNvPr id="17" name="Text 12"/>
          <p:cNvSpPr/>
          <p:nvPr/>
        </p:nvSpPr>
        <p:spPr>
          <a:xfrm>
            <a:off x="7614415" y="3351538"/>
            <a:ext cx="144361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E"/>
                </a:solidFill>
                <a:latin typeface="DM Sans" pitchFamily="34" charset="0"/>
                <a:ea typeface="DM Sans" pitchFamily="34" charset="-122"/>
                <a:cs typeface="DM Sans" pitchFamily="34" charset="-120"/>
              </a:rPr>
              <a:t>joins and window functions</a:t>
            </a:r>
            <a:endParaRPr lang="en-US" sz="1200" dirty="0">
              <a:latin typeface="DM Sans" charset="0"/>
              <a:ea typeface="DM Sans" charset="0"/>
              <a:cs typeface="DM Sans" charset="0"/>
            </a:endParaRPr>
          </a:p>
        </p:txBody>
      </p:sp>
      <p:pic>
        <p:nvPicPr>
          <p:cNvPr id="18" name="Image 3" descr="arrow-right">    </p:cNvPr>
          <p:cNvPicPr>
            <a:picLocks noChangeAspect="1"/>
          </p:cNvPicPr>
          <p:nvPr/>
        </p:nvPicPr>
        <p:blipFill>
          <a:blip r:embed="rId4"/>
          <a:srcRect l="-12" r="-12" t="0" b="0"/>
          <a:stretch/>
        </p:blipFill>
        <p:spPr>
          <a:xfrm>
            <a:off x="9265856" y="3321109"/>
            <a:ext cx="304785" cy="152356"/>
          </a:xfrm>
          <a:prstGeom prst="rect">
            <a:avLst/>
          </a:prstGeom>
        </p:spPr>
      </p:pic>
      <p:sp>
        <p:nvSpPr>
          <p:cNvPr id="19" name="Shape 13"/>
          <p:cNvSpPr/>
          <p:nvPr/>
        </p:nvSpPr>
        <p:spPr>
          <a:xfrm>
            <a:off x="9675388" y="2862368"/>
            <a:ext cx="1700580" cy="1069769"/>
          </a:xfrm>
          <a:prstGeom prst="roundRect">
            <a:avLst>
              <a:gd name="adj" fmla="val 9201"/>
            </a:avLst>
          </a:prstGeom>
          <a:solidFill>
            <a:srgbClr val="DDEFEC"/>
          </a:solidFill>
          <a:ln w="6350">
            <a:solidFill>
              <a:srgbClr val="B7DAD4"/>
            </a:solidFill>
            <a:prstDash val="solid"/>
          </a:ln>
        </p:spPr>
      </p:sp>
      <p:sp>
        <p:nvSpPr>
          <p:cNvPr id="20" name="Text 14"/>
          <p:cNvSpPr/>
          <p:nvPr/>
        </p:nvSpPr>
        <p:spPr>
          <a:xfrm>
            <a:off x="9829272" y="3016250"/>
            <a:ext cx="14436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DM Sans" pitchFamily="34" charset="0"/>
                <a:ea typeface="DM Sans" pitchFamily="34" charset="-122"/>
                <a:cs typeface="DM Sans" pitchFamily="34" charset="-120"/>
              </a:rPr>
              <a:t>Streamlit app</a:t>
            </a:r>
            <a:endParaRPr lang="en-US" sz="1600" dirty="0">
              <a:latin typeface="DM Sans" charset="0"/>
              <a:ea typeface="DM Sans" charset="0"/>
              <a:cs typeface="DM Sans" charset="0"/>
            </a:endParaRPr>
          </a:p>
        </p:txBody>
      </p:sp>
      <p:sp>
        <p:nvSpPr>
          <p:cNvPr id="21" name="Text 15"/>
          <p:cNvSpPr/>
          <p:nvPr/>
        </p:nvSpPr>
        <p:spPr>
          <a:xfrm>
            <a:off x="9829272" y="3351538"/>
            <a:ext cx="144361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04D"/>
                </a:solidFill>
                <a:latin typeface="DM Sans" pitchFamily="34" charset="0"/>
                <a:ea typeface="DM Sans" pitchFamily="34" charset="-122"/>
                <a:cs typeface="DM Sans" pitchFamily="34" charset="-120"/>
              </a:rPr>
              <a:t>pick a date, see the colours</a:t>
            </a:r>
            <a:endParaRPr lang="en-US" sz="1200" dirty="0">
              <a:latin typeface="DM Sans" charset="0"/>
              <a:ea typeface="DM Sans" charset="0"/>
              <a:cs typeface="DM Sans" charset="0"/>
            </a:endParaRPr>
          </a:p>
        </p:txBody>
      </p:sp>
      <p:sp>
        <p:nvSpPr>
          <p:cNvPr id="22" name="Text 16"/>
          <p:cNvSpPr/>
          <p:nvPr/>
        </p:nvSpPr>
        <p:spPr>
          <a:xfrm>
            <a:off x="812785" y="5478788"/>
            <a:ext cx="10883348" cy="388614"/>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B2A41"/>
                </a:solidFill>
                <a:latin typeface="DM Sans" pitchFamily="34" charset="0"/>
                <a:ea typeface="DM Sans" pitchFamily="34" charset="-122"/>
                <a:cs typeface="DM Sans" pitchFamily="34" charset="-120"/>
              </a:rPr>
              <a:t>Python calculates. MySQL stores and serves. The app only reads.</a:t>
            </a:r>
            <a:endParaRPr lang="en-US" sz="2200" dirty="0">
              <a:latin typeface="DM Sans" charset="0"/>
              <a:ea typeface="DM Sans" charset="0"/>
              <a:cs typeface="DM Sans" charset="0"/>
            </a:endParaRPr>
          </a:p>
        </p:txBody>
      </p:sp>
      <p:sp>
        <p:nvSpPr>
          <p:cNvPr id="23" name="Text 17"/>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5</a:t>
            </a:r>
            <a:endParaRPr lang="en-US" sz="1200" dirty="0">
              <a:latin typeface="DM Sans" charset="0"/>
              <a:ea typeface="DM Sans" charset="0"/>
              <a:cs typeface="DM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4"/>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41"/>
                </a:solidFill>
                <a:latin typeface="DM Sans" pitchFamily="34" charset="0"/>
                <a:ea typeface="DM Sans" pitchFamily="34" charset="-122"/>
                <a:cs typeface="DM Sans" pitchFamily="34" charset="-120"/>
              </a:rPr>
              <a:t>Forecasting: the simple model holds its own</a:t>
            </a:r>
            <a:endParaRPr lang="en-US" sz="3600" dirty="0">
              <a:latin typeface="DM Sans" charset="0"/>
              <a:ea typeface="DM Sans" charset="0"/>
              <a:cs typeface="DM Sans" charset="0"/>
            </a:endParaRPr>
          </a:p>
        </p:txBody>
      </p:sp>
      <p:sp>
        <p:nvSpPr>
          <p:cNvPr id="3" name="Text 1"/>
          <p:cNvSpPr/>
          <p:nvPr/>
        </p:nvSpPr>
        <p:spPr>
          <a:xfrm>
            <a:off x="876793" y="2818622"/>
            <a:ext cx="5160773" cy="2158897"/>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46505E"/>
                </a:solidFill>
                <a:latin typeface="DM Sans" pitchFamily="34" charset="0"/>
                <a:ea typeface="DM Sans" pitchFamily="34" charset="-122"/>
                <a:cs typeface="DM Sans" pitchFamily="34" charset="-120"/>
              </a:rPr>
              <a:t>Train 1 Jan to 30 Nov, test 1 to 30 Dec. Never shuffled.</a:t>
            </a:r>
            <a:endParaRPr lang="en-US" sz="1600" dirty="0">
              <a:latin typeface="DM Sans" charset="0"/>
              <a:ea typeface="DM Sans" charset="0"/>
              <a:cs typeface="DM Sans" charset="0"/>
            </a:endParaRPr>
          </a:p>
          <a:p>
            <a:pPr algn="l" marL="189992" indent="-189992">
              <a:lnSpc>
                <a:spcPts val="2400"/>
              </a:lnSpc>
              <a:buSzPct val="100000"/>
              <a:buChar char="•"/>
            </a:pPr>
            <a:r>
              <a:rPr lang="en-US" sz="1600" dirty="0">
                <a:solidFill>
                  <a:srgbClr val="46505E"/>
                </a:solidFill>
                <a:latin typeface="DM Sans" pitchFamily="34" charset="0"/>
                <a:ea typeface="DM Sans" pitchFamily="34" charset="-122"/>
                <a:cs typeface="DM Sans" pitchFamily="34" charset="-120"/>
              </a:rPr>
              <a:t>All 10 series are non-stationary (ADF p-value 0.62 to 0.90). One difference fixes it, so d = 1.</a:t>
            </a:r>
            <a:endParaRPr lang="en-US" sz="1600" dirty="0">
              <a:latin typeface="DM Sans" charset="0"/>
              <a:ea typeface="DM Sans" charset="0"/>
              <a:cs typeface="DM Sans" charset="0"/>
            </a:endParaRPr>
          </a:p>
          <a:p>
            <a:pPr algn="l" marL="189992" indent="-189992">
              <a:lnSpc>
                <a:spcPts val="2400"/>
              </a:lnSpc>
              <a:buSzPct val="100000"/>
              <a:buChar char="•"/>
            </a:pPr>
            <a:r>
              <a:rPr lang="en-US" sz="1600" dirty="0">
                <a:solidFill>
                  <a:srgbClr val="46505E"/>
                </a:solidFill>
                <a:latin typeface="DM Sans" pitchFamily="34" charset="0"/>
                <a:ea typeface="DM Sans" pitchFamily="34" charset="-122"/>
                <a:cs typeface="DM Sans" pitchFamily="34" charset="-120"/>
              </a:rPr>
              <a:t>Naive: the average of the last 7 days.</a:t>
            </a:r>
            <a:endParaRPr lang="en-US" sz="1600" dirty="0">
              <a:latin typeface="DM Sans" charset="0"/>
              <a:ea typeface="DM Sans" charset="0"/>
              <a:cs typeface="DM Sans" charset="0"/>
            </a:endParaRPr>
          </a:p>
          <a:p>
            <a:pPr algn="l" marL="189992" indent="-189992">
              <a:lnSpc>
                <a:spcPts val="2400"/>
              </a:lnSpc>
              <a:buSzPct val="100000"/>
              <a:buChar char="•"/>
            </a:pPr>
            <a:r>
              <a:rPr lang="en-US" sz="1600" dirty="0">
                <a:solidFill>
                  <a:srgbClr val="46505E"/>
                </a:solidFill>
                <a:latin typeface="DM Sans" pitchFamily="34" charset="0"/>
                <a:ea typeface="DM Sans" pitchFamily="34" charset="-122"/>
                <a:cs typeface="DM Sans" pitchFamily="34" charset="-120"/>
              </a:rPr>
              <a:t>ARIMA(1,1,1) and SARIMAX with a weekly pattern, both with 80% intervals.</a:t>
            </a:r>
            <a:endParaRPr lang="en-US" sz="1600" dirty="0">
              <a:latin typeface="DM Sans" charset="0"/>
              <a:ea typeface="DM Sans" charset="0"/>
              <a:cs typeface="DM Sans"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08549" y="2828029"/>
          <a:ext cx="5070593" cy="1957329"/>
        </p:xfrm>
        <a:graphic>
          <a:graphicData uri="http://schemas.openxmlformats.org/drawingml/2006/table">
            <a:tbl>
              <a:tblPr/>
              <a:tblGrid>
                <a:gridCol w="2231061"/>
                <a:gridCol w="1419766"/>
                <a:gridCol w="1419766"/>
              </a:tblGrid>
              <a:tr h="489332">
                <a:tc>
                  <a:txBody>
                    <a:bodyPr/>
                    <a:lstStyle/>
                    <a:p>
                      <a:pPr indent="0" marL="0">
                        <a:lnSpc>
                          <a:spcPts val="2520"/>
                        </a:lnSpc>
                        <a:buNone/>
                      </a:pPr>
                      <a:r>
                        <a:rPr lang="en-US" sz="1800" b="1" dirty="0">
                          <a:solidFill>
                            <a:srgbClr val="1B2A41"/>
                          </a:solidFill>
                          <a:latin typeface="DM Sans" pitchFamily="34" charset="0"/>
                          <a:ea typeface="DM Sans" pitchFamily="34" charset="-122"/>
                          <a:cs typeface="DM Sans" pitchFamily="34" charset="-120"/>
                        </a:rPr>
                        <a:t>Model</a:t>
                      </a:r>
                      <a:endParaRPr lang="en-US" sz="1800" dirty="0">
                        <a:latin typeface="DM Sans" charset="0"/>
                        <a:ea typeface="DM Sans" charset="0"/>
                        <a:cs typeface="DM Sans" charset="0"/>
                      </a:endParaRPr>
                    </a:p>
                  </a:txBody>
                  <a:tcPr marL="80010" marR="80010" marT="80010" marB="8001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520"/>
                        </a:lnSpc>
                        <a:buNone/>
                      </a:pPr>
                      <a:r>
                        <a:rPr lang="en-US" sz="1800" b="1" dirty="0">
                          <a:solidFill>
                            <a:srgbClr val="1B2A41"/>
                          </a:solidFill>
                          <a:latin typeface="DM Sans" pitchFamily="34" charset="0"/>
                          <a:ea typeface="DM Sans" pitchFamily="34" charset="-122"/>
                          <a:cs typeface="DM Sans" pitchFamily="34" charset="-120"/>
                        </a:rPr>
                        <a:t>MAE</a:t>
                      </a:r>
                      <a:endParaRPr lang="en-US" sz="1800" dirty="0">
                        <a:latin typeface="DM Sans" charset="0"/>
                        <a:ea typeface="DM Sans" charset="0"/>
                        <a:cs typeface="DM Sans" charset="0"/>
                      </a:endParaRPr>
                    </a:p>
                  </a:txBody>
                  <a:tcPr marL="80010" marR="80010" marT="80010" marB="8001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520"/>
                        </a:lnSpc>
                        <a:buNone/>
                      </a:pPr>
                      <a:r>
                        <a:rPr lang="en-US" sz="1800" b="1" dirty="0">
                          <a:solidFill>
                            <a:srgbClr val="1B2A41"/>
                          </a:solidFill>
                          <a:latin typeface="DM Sans" pitchFamily="34" charset="0"/>
                          <a:ea typeface="DM Sans" pitchFamily="34" charset="-122"/>
                          <a:cs typeface="DM Sans" pitchFamily="34" charset="-120"/>
                        </a:rPr>
                        <a:t>WAPE %</a:t>
                      </a:r>
                      <a:endParaRPr lang="en-US" sz="1800" dirty="0">
                        <a:latin typeface="DM Sans" charset="0"/>
                        <a:ea typeface="DM Sans" charset="0"/>
                        <a:cs typeface="DM Sans" charset="0"/>
                      </a:endParaRPr>
                    </a:p>
                  </a:txBody>
                  <a:tcPr marL="80010" marR="80010" marT="80010" marB="8001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89332">
                <a:tc>
                  <a:txBody>
                    <a:bodyPr/>
                    <a:lstStyle/>
                    <a:p>
                      <a:pPr indent="0" marL="0">
                        <a:lnSpc>
                          <a:spcPts val="2520"/>
                        </a:lnSpc>
                        <a:buNone/>
                      </a:pPr>
                      <a:r>
                        <a:rPr lang="en-US" sz="1800" dirty="0">
                          <a:solidFill>
                            <a:srgbClr val="1B2A41"/>
                          </a:solidFill>
                          <a:latin typeface="DM Sans" pitchFamily="34" charset="0"/>
                          <a:ea typeface="DM Sans" pitchFamily="34" charset="-122"/>
                          <a:cs typeface="DM Sans" pitchFamily="34" charset="-120"/>
                        </a:rPr>
                        <a:t>Naive</a:t>
                      </a:r>
                      <a:endParaRPr lang="en-US" sz="1800" dirty="0">
                        <a:latin typeface="DM Sans" charset="0"/>
                        <a:ea typeface="DM Sans" charset="0"/>
                        <a:cs typeface="DM Sans" charset="0"/>
                      </a:endParaRPr>
                    </a:p>
                  </a:txBody>
                  <a:tcPr marL="80010" marR="80010" marT="80010" marB="80010" anchor="t">
                    <a:lnL w="12700" cap="flat" cmpd="sng" algn="ctr">
                      <a:solidFill>
                        <a:srgbClr val="C4C4BF"/>
                      </a:solidFill>
                      <a:prstDash val="solid"/>
                      <a:round/>
                      <a:headEnd type="none" w="med" len="med"/>
                      <a:tailEnd type="none" w="med" len="med"/>
                    </a:lnL>
                    <a:lnR w="12700" cap="flat" cmpd="sng" algn="ctr">
                      <a:solidFill>
                        <a:srgbClr val="B1BFBC"/>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1BFBC"/>
                      </a:solidFill>
                      <a:prstDash val="solid"/>
                      <a:round/>
                      <a:headEnd type="none" w="med" len="med"/>
                      <a:tailEnd type="none" w="med" len="med"/>
                    </a:lnB>
                    <a:solidFill>
                      <a:srgbClr val="DDEFEC"/>
                    </a:solidFill>
                  </a:tcPr>
                </a:tc>
                <a:tc>
                  <a:txBody>
                    <a:bodyPr/>
                    <a:lstStyle/>
                    <a:p>
                      <a:pPr algn="r" indent="0" marL="0">
                        <a:lnSpc>
                          <a:spcPts val="2520"/>
                        </a:lnSpc>
                        <a:buNone/>
                      </a:pPr>
                      <a:r>
                        <a:rPr lang="en-US" sz="1800" dirty="0">
                          <a:solidFill>
                            <a:srgbClr val="1B2A41"/>
                          </a:solidFill>
                          <a:latin typeface="DM Sans" pitchFamily="34" charset="0"/>
                          <a:ea typeface="DM Sans" pitchFamily="34" charset="-122"/>
                          <a:cs typeface="DM Sans" pitchFamily="34" charset="-120"/>
                        </a:rPr>
                        <a:t>5.22</a:t>
                      </a:r>
                      <a:endParaRPr lang="en-US" sz="1800" dirty="0">
                        <a:latin typeface="DM Sans" charset="0"/>
                        <a:ea typeface="DM Sans" charset="0"/>
                        <a:cs typeface="DM Sans" charset="0"/>
                      </a:endParaRPr>
                    </a:p>
                  </a:txBody>
                  <a:tcPr marL="80010" marR="80010" marT="80010" marB="80010" anchor="t">
                    <a:lnL w="12700" cap="flat" cmpd="sng" algn="ctr">
                      <a:solidFill>
                        <a:srgbClr val="B1BFBC"/>
                      </a:solidFill>
                      <a:prstDash val="solid"/>
                      <a:round/>
                      <a:headEnd type="none" w="med" len="med"/>
                      <a:tailEnd type="none" w="med" len="med"/>
                    </a:lnL>
                    <a:lnR w="12700" cap="flat" cmpd="sng" algn="ctr">
                      <a:solidFill>
                        <a:srgbClr val="B1BFBC"/>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1BFBC"/>
                      </a:solidFill>
                      <a:prstDash val="solid"/>
                      <a:round/>
                      <a:headEnd type="none" w="med" len="med"/>
                      <a:tailEnd type="none" w="med" len="med"/>
                    </a:lnB>
                    <a:solidFill>
                      <a:srgbClr val="DDEFEC"/>
                    </a:solidFill>
                  </a:tcPr>
                </a:tc>
                <a:tc>
                  <a:txBody>
                    <a:bodyPr/>
                    <a:lstStyle/>
                    <a:p>
                      <a:pPr algn="r" indent="0" marL="0">
                        <a:lnSpc>
                          <a:spcPts val="2520"/>
                        </a:lnSpc>
                        <a:buNone/>
                      </a:pPr>
                      <a:r>
                        <a:rPr lang="en-US" sz="1800" dirty="0">
                          <a:solidFill>
                            <a:srgbClr val="1B2A41"/>
                          </a:solidFill>
                          <a:latin typeface="DM Sans" pitchFamily="34" charset="0"/>
                          <a:ea typeface="DM Sans" pitchFamily="34" charset="-122"/>
                          <a:cs typeface="DM Sans" pitchFamily="34" charset="-120"/>
                        </a:rPr>
                        <a:t>29.1</a:t>
                      </a:r>
                      <a:endParaRPr lang="en-US" sz="1800" dirty="0">
                        <a:latin typeface="DM Sans" charset="0"/>
                        <a:ea typeface="DM Sans" charset="0"/>
                        <a:cs typeface="DM Sans" charset="0"/>
                      </a:endParaRPr>
                    </a:p>
                  </a:txBody>
                  <a:tcPr marL="80010" marR="80010" marT="80010" marB="80010" anchor="t">
                    <a:lnL w="12700" cap="flat" cmpd="sng" algn="ctr">
                      <a:solidFill>
                        <a:srgbClr val="B1BFBC"/>
                      </a:solidFill>
                      <a:prstDash val="solid"/>
                      <a:round/>
                      <a:headEnd type="none" w="med" len="med"/>
                      <a:tailEnd type="none" w="med" len="med"/>
                    </a:lnL>
                    <a:lnR w="12700" cap="flat" cmpd="sng" algn="ctr">
                      <a:solidFill>
                        <a:srgbClr val="B1BFBC"/>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1BFBC"/>
                      </a:solidFill>
                      <a:prstDash val="solid"/>
                      <a:round/>
                      <a:headEnd type="none" w="med" len="med"/>
                      <a:tailEnd type="none" w="med" len="med"/>
                    </a:lnB>
                    <a:solidFill>
                      <a:srgbClr val="DDEFEC"/>
                    </a:solidFill>
                  </a:tcPr>
                </a:tc>
              </a:tr>
              <a:tr h="489332">
                <a:tc>
                  <a:txBody>
                    <a:bodyPr/>
                    <a:lstStyle/>
                    <a:p>
                      <a:pPr indent="0" marL="0">
                        <a:lnSpc>
                          <a:spcPts val="2520"/>
                        </a:lnSpc>
                        <a:buNone/>
                      </a:pPr>
                      <a:r>
                        <a:rPr lang="en-US" sz="1800" dirty="0">
                          <a:solidFill>
                            <a:srgbClr val="1B2A41"/>
                          </a:solidFill>
                          <a:latin typeface="DM Sans" pitchFamily="34" charset="0"/>
                          <a:ea typeface="DM Sans" pitchFamily="34" charset="-122"/>
                          <a:cs typeface="DM Sans" pitchFamily="34" charset="-120"/>
                        </a:rPr>
                        <a:t>ARIMA</a:t>
                      </a:r>
                      <a:endParaRPr lang="en-US" sz="1800" dirty="0">
                        <a:latin typeface="DM Sans" charset="0"/>
                        <a:ea typeface="DM Sans" charset="0"/>
                        <a:cs typeface="DM Sans" charset="0"/>
                      </a:endParaRPr>
                    </a:p>
                  </a:txBody>
                  <a:tcPr marL="80010" marR="80010" marT="80010" marB="8001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1BFBC"/>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520"/>
                        </a:lnSpc>
                        <a:buNone/>
                      </a:pPr>
                      <a:r>
                        <a:rPr lang="en-US" sz="1800" dirty="0">
                          <a:solidFill>
                            <a:srgbClr val="1B2A41"/>
                          </a:solidFill>
                          <a:latin typeface="DM Sans" pitchFamily="34" charset="0"/>
                          <a:ea typeface="DM Sans" pitchFamily="34" charset="-122"/>
                          <a:cs typeface="DM Sans" pitchFamily="34" charset="-120"/>
                        </a:rPr>
                        <a:t>5.40</a:t>
                      </a:r>
                      <a:endParaRPr lang="en-US" sz="1800" dirty="0">
                        <a:latin typeface="DM Sans" charset="0"/>
                        <a:ea typeface="DM Sans" charset="0"/>
                        <a:cs typeface="DM Sans" charset="0"/>
                      </a:endParaRPr>
                    </a:p>
                  </a:txBody>
                  <a:tcPr marL="80010" marR="80010" marT="80010" marB="8001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1BFBC"/>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520"/>
                        </a:lnSpc>
                        <a:buNone/>
                      </a:pPr>
                      <a:r>
                        <a:rPr lang="en-US" sz="1800" dirty="0">
                          <a:solidFill>
                            <a:srgbClr val="1B2A41"/>
                          </a:solidFill>
                          <a:latin typeface="DM Sans" pitchFamily="34" charset="0"/>
                          <a:ea typeface="DM Sans" pitchFamily="34" charset="-122"/>
                          <a:cs typeface="DM Sans" pitchFamily="34" charset="-120"/>
                        </a:rPr>
                        <a:t>30.1</a:t>
                      </a:r>
                      <a:endParaRPr lang="en-US" sz="1800" dirty="0">
                        <a:latin typeface="DM Sans" charset="0"/>
                        <a:ea typeface="DM Sans" charset="0"/>
                        <a:cs typeface="DM Sans" charset="0"/>
                      </a:endParaRPr>
                    </a:p>
                  </a:txBody>
                  <a:tcPr marL="80010" marR="80010" marT="80010" marB="8001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1BFBC"/>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89332">
                <a:tc>
                  <a:txBody>
                    <a:bodyPr/>
                    <a:lstStyle/>
                    <a:p>
                      <a:pPr indent="0" marL="0">
                        <a:lnSpc>
                          <a:spcPts val="2520"/>
                        </a:lnSpc>
                        <a:buNone/>
                      </a:pPr>
                      <a:r>
                        <a:rPr lang="en-US" sz="1800" dirty="0">
                          <a:solidFill>
                            <a:srgbClr val="1B2A41"/>
                          </a:solidFill>
                          <a:latin typeface="DM Sans" pitchFamily="34" charset="0"/>
                          <a:ea typeface="DM Sans" pitchFamily="34" charset="-122"/>
                          <a:cs typeface="DM Sans" pitchFamily="34" charset="-120"/>
                        </a:rPr>
                        <a:t>SARIMAX</a:t>
                      </a:r>
                      <a:endParaRPr lang="en-US" sz="1800" dirty="0">
                        <a:latin typeface="DM Sans" charset="0"/>
                        <a:ea typeface="DM Sans" charset="0"/>
                        <a:cs typeface="DM Sans" charset="0"/>
                      </a:endParaRPr>
                    </a:p>
                  </a:txBody>
                  <a:tcPr marL="80010" marR="80010" marT="80010" marB="8001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520"/>
                        </a:lnSpc>
                        <a:buNone/>
                      </a:pPr>
                      <a:r>
                        <a:rPr lang="en-US" sz="1800" dirty="0">
                          <a:solidFill>
                            <a:srgbClr val="1B2A41"/>
                          </a:solidFill>
                          <a:latin typeface="DM Sans" pitchFamily="34" charset="0"/>
                          <a:ea typeface="DM Sans" pitchFamily="34" charset="-122"/>
                          <a:cs typeface="DM Sans" pitchFamily="34" charset="-120"/>
                        </a:rPr>
                        <a:t>5.68</a:t>
                      </a:r>
                      <a:endParaRPr lang="en-US" sz="1800" dirty="0">
                        <a:latin typeface="DM Sans" charset="0"/>
                        <a:ea typeface="DM Sans" charset="0"/>
                        <a:cs typeface="DM Sans" charset="0"/>
                      </a:endParaRPr>
                    </a:p>
                  </a:txBody>
                  <a:tcPr marL="80010" marR="80010" marT="80010" marB="8001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520"/>
                        </a:lnSpc>
                        <a:buNone/>
                      </a:pPr>
                      <a:r>
                        <a:rPr lang="en-US" sz="1800" dirty="0">
                          <a:solidFill>
                            <a:srgbClr val="1B2A41"/>
                          </a:solidFill>
                          <a:latin typeface="DM Sans" pitchFamily="34" charset="0"/>
                          <a:ea typeface="DM Sans" pitchFamily="34" charset="-122"/>
                          <a:cs typeface="DM Sans" pitchFamily="34" charset="-120"/>
                        </a:rPr>
                        <a:t>31.7</a:t>
                      </a:r>
                      <a:endParaRPr lang="en-US" sz="1800" dirty="0">
                        <a:latin typeface="DM Sans" charset="0"/>
                        <a:ea typeface="DM Sans" charset="0"/>
                        <a:cs typeface="DM Sans" charset="0"/>
                      </a:endParaRPr>
                    </a:p>
                  </a:txBody>
                  <a:tcPr marL="80010" marR="80010" marT="80010" marB="8001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6299142" y="4988499"/>
            <a:ext cx="5232401" cy="8789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Daily demand is noisy, so the simple baseline is hard to beat. The 80% intervals hold 77 to 79% of actual values.</a:t>
            </a:r>
            <a:endParaRPr lang="en-US" sz="1600" dirty="0">
              <a:latin typeface="DM Sans" charset="0"/>
              <a:ea typeface="DM Sans" charset="0"/>
              <a:cs typeface="DM Sans" charset="0"/>
            </a:endParaRPr>
          </a:p>
        </p:txBody>
      </p:sp>
      <p:sp>
        <p:nvSpPr>
          <p:cNvPr id="6" name="Text 3"/>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6</a:t>
            </a:r>
            <a:endParaRPr lang="en-US" sz="1200" dirty="0">
              <a:latin typeface="DM Sans" charset="0"/>
              <a:ea typeface="DM Sans" charset="0"/>
              <a:cs typeface="DM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Shape 0"/>
          <p:cNvSpPr/>
          <p:nvPr/>
        </p:nvSpPr>
        <p:spPr>
          <a:xfrm>
            <a:off x="0" y="0"/>
            <a:ext cx="3301927" cy="6857927"/>
          </a:xfrm>
          <a:prstGeom prst="rect">
            <a:avLst/>
          </a:prstGeom>
          <a:solidFill>
            <a:srgbClr val="1B2A41"/>
          </a:solidFill>
          <a:ln/>
        </p:spPr>
      </p:sp>
      <p:sp>
        <p:nvSpPr>
          <p:cNvPr id="3" name="Text 1"/>
          <p:cNvSpPr/>
          <p:nvPr/>
        </p:nvSpPr>
        <p:spPr>
          <a:xfrm>
            <a:off x="304785" y="812788"/>
            <a:ext cx="2773127"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EAD4"/>
                </a:solidFill>
                <a:latin typeface="DM Sans" pitchFamily="34" charset="0"/>
                <a:ea typeface="DM Sans" pitchFamily="34" charset="-122"/>
                <a:cs typeface="DM Sans" pitchFamily="34" charset="-120"/>
              </a:rPr>
              <a:t>TOPIC</a:t>
            </a:r>
            <a:endParaRPr lang="en-US" sz="1200" dirty="0">
              <a:latin typeface="DM Sans" charset="0"/>
              <a:ea typeface="DM Sans" charset="0"/>
              <a:cs typeface="DM Sans" charset="0"/>
            </a:endParaRPr>
          </a:p>
        </p:txBody>
      </p:sp>
      <p:sp>
        <p:nvSpPr>
          <p:cNvPr id="4" name="Text 2"/>
          <p:cNvSpPr/>
          <p:nvPr/>
        </p:nvSpPr>
        <p:spPr>
          <a:xfrm>
            <a:off x="304785" y="1153071"/>
            <a:ext cx="2773127" cy="609541"/>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6F5F0"/>
                </a:solidFill>
                <a:latin typeface="DM Sans" pitchFamily="34" charset="0"/>
                <a:ea typeface="DM Sans" pitchFamily="34" charset="-122"/>
                <a:cs typeface="DM Sans" pitchFamily="34" charset="-120"/>
              </a:rPr>
              <a:t>Inventory optimization</a:t>
            </a:r>
            <a:endParaRPr lang="en-US" sz="2000" dirty="0">
              <a:latin typeface="DM Sans" charset="0"/>
              <a:ea typeface="DM Sans" charset="0"/>
              <a:cs typeface="DM Sans" charset="0"/>
            </a:endParaRPr>
          </a:p>
        </p:txBody>
      </p:sp>
      <p:sp>
        <p:nvSpPr>
          <p:cNvPr id="5" name="Shape 3"/>
          <p:cNvSpPr/>
          <p:nvPr/>
        </p:nvSpPr>
        <p:spPr>
          <a:xfrm>
            <a:off x="311135" y="1864137"/>
            <a:ext cx="0" cy="2539192"/>
          </a:xfrm>
          <a:prstGeom prst="line">
            <a:avLst/>
          </a:prstGeom>
          <a:noFill/>
          <a:ln w="12700">
            <a:solidFill>
              <a:srgbClr val="3B4B63"/>
            </a:solidFill>
            <a:prstDash val="solid"/>
          </a:ln>
        </p:spPr>
      </p:sp>
      <p:sp>
        <p:nvSpPr>
          <p:cNvPr id="6" name="Text 4"/>
          <p:cNvSpPr/>
          <p:nvPr/>
        </p:nvSpPr>
        <p:spPr>
          <a:xfrm>
            <a:off x="466549" y="1864137"/>
            <a:ext cx="26065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5F0"/>
                </a:solidFill>
                <a:latin typeface="DM Sans" pitchFamily="34" charset="0"/>
                <a:ea typeface="DM Sans" pitchFamily="34" charset="-122"/>
                <a:cs typeface="DM Sans" pitchFamily="34" charset="-120"/>
              </a:rPr>
              <a:t>Statistical analysis</a:t>
            </a:r>
            <a:endParaRPr lang="en-US" sz="1600" dirty="0">
              <a:latin typeface="DM Sans" charset="0"/>
              <a:ea typeface="DM Sans" charset="0"/>
              <a:cs typeface="DM Sans" charset="0"/>
            </a:endParaRPr>
          </a:p>
        </p:txBody>
      </p:sp>
      <p:sp>
        <p:nvSpPr>
          <p:cNvPr id="7" name="Shape 5"/>
          <p:cNvSpPr/>
          <p:nvPr/>
        </p:nvSpPr>
        <p:spPr>
          <a:xfrm>
            <a:off x="472899" y="2224779"/>
            <a:ext cx="0" cy="1304984"/>
          </a:xfrm>
          <a:prstGeom prst="line">
            <a:avLst/>
          </a:prstGeom>
          <a:noFill/>
          <a:ln w="12700">
            <a:solidFill>
              <a:srgbClr val="3B4B63"/>
            </a:solidFill>
            <a:prstDash val="solid"/>
          </a:ln>
        </p:spPr>
      </p:sp>
      <p:sp>
        <p:nvSpPr>
          <p:cNvPr id="8" name="Text 6"/>
          <p:cNvSpPr/>
          <p:nvPr/>
        </p:nvSpPr>
        <p:spPr>
          <a:xfrm>
            <a:off x="704483" y="2300979"/>
            <a:ext cx="2256791" cy="274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Safety stock calculation</a:t>
            </a:r>
            <a:endParaRPr lang="en-US" sz="1400" dirty="0">
              <a:latin typeface="DM Sans" charset="0"/>
              <a:ea typeface="DM Sans" charset="0"/>
              <a:cs typeface="DM Sans" charset="0"/>
            </a:endParaRPr>
          </a:p>
        </p:txBody>
      </p:sp>
      <p:sp>
        <p:nvSpPr>
          <p:cNvPr id="9" name="Text 7"/>
          <p:cNvSpPr/>
          <p:nvPr/>
        </p:nvSpPr>
        <p:spPr>
          <a:xfrm>
            <a:off x="704483" y="2752902"/>
            <a:ext cx="2256791" cy="274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Reorder point</a:t>
            </a:r>
            <a:endParaRPr lang="en-US" sz="1400" dirty="0">
              <a:latin typeface="DM Sans" charset="0"/>
              <a:ea typeface="DM Sans" charset="0"/>
              <a:cs typeface="DM Sans" charset="0"/>
            </a:endParaRPr>
          </a:p>
        </p:txBody>
      </p:sp>
      <p:sp>
        <p:nvSpPr>
          <p:cNvPr id="10" name="Text 8"/>
          <p:cNvSpPr/>
          <p:nvPr/>
        </p:nvSpPr>
        <p:spPr>
          <a:xfrm>
            <a:off x="704483" y="3204828"/>
            <a:ext cx="2256791" cy="274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Days of stock</a:t>
            </a:r>
            <a:endParaRPr lang="en-US" sz="1400" dirty="0">
              <a:latin typeface="DM Sans" charset="0"/>
              <a:ea typeface="DM Sans" charset="0"/>
              <a:cs typeface="DM Sans" charset="0"/>
            </a:endParaRPr>
          </a:p>
        </p:txBody>
      </p:sp>
      <p:sp>
        <p:nvSpPr>
          <p:cNvPr id="11" name="Text 9"/>
          <p:cNvSpPr/>
          <p:nvPr/>
        </p:nvSpPr>
        <p:spPr>
          <a:xfrm>
            <a:off x="466549" y="3605904"/>
            <a:ext cx="2530593" cy="436783"/>
          </a:xfrm>
          <a:prstGeom prst="roundRect">
            <a:avLst>
              <a:gd name="adj" fmla="val 17446"/>
            </a:avLst>
          </a:prstGeom>
          <a:solidFill>
            <a:srgbClr val="0F766E"/>
          </a:solidFill>
          <a:ln/>
        </p:spPr>
        <p:txBody>
          <a:bodyPr wrap="square" lIns="79282" tIns="53882" rIns="9460" bIns="28482" rtlCol="0" anchor="t">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Risk classification</a:t>
            </a:r>
            <a:endParaRPr lang="en-US" sz="1600" dirty="0">
              <a:latin typeface="DM Sans" charset="0"/>
              <a:ea typeface="DM Sans" charset="0"/>
              <a:cs typeface="DM Sans" charset="0"/>
            </a:endParaRPr>
          </a:p>
        </p:txBody>
      </p:sp>
      <p:sp>
        <p:nvSpPr>
          <p:cNvPr id="12" name="Text 10"/>
          <p:cNvSpPr/>
          <p:nvPr/>
        </p:nvSpPr>
        <p:spPr>
          <a:xfrm>
            <a:off x="466549" y="4118831"/>
            <a:ext cx="26065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5F0"/>
                </a:solidFill>
                <a:latin typeface="DM Sans" pitchFamily="34" charset="0"/>
                <a:ea typeface="DM Sans" pitchFamily="34" charset="-122"/>
                <a:cs typeface="DM Sans" pitchFamily="34" charset="-120"/>
              </a:rPr>
              <a:t>Budget plan (planned)</a:t>
            </a:r>
            <a:endParaRPr lang="en-US" sz="1600" dirty="0">
              <a:latin typeface="DM Sans" charset="0"/>
              <a:ea typeface="DM Sans" charset="0"/>
              <a:cs typeface="DM Sans" charset="0"/>
            </a:endParaRPr>
          </a:p>
        </p:txBody>
      </p:sp>
      <p:sp>
        <p:nvSpPr>
          <p:cNvPr id="13" name="Text 11"/>
          <p:cNvSpPr/>
          <p:nvPr>
            <p:ph type="title"/>
          </p:nvPr>
        </p:nvSpPr>
        <p:spPr>
          <a:xfrm>
            <a:off x="3809853" y="812788"/>
            <a:ext cx="8005679"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DM Sans" pitchFamily="34" charset="0"/>
                <a:ea typeface="DM Sans" pitchFamily="34" charset="-122"/>
                <a:cs typeface="DM Sans" pitchFamily="34" charset="-120"/>
              </a:rPr>
              <a:t>Risk rule: RED, YELLOW, GREEN</a:t>
            </a:r>
            <a:endParaRPr lang="en-US" sz="3200" dirty="0">
              <a:latin typeface="DM Sans" charset="0"/>
              <a:ea typeface="DM Sans" charset="0"/>
              <a:cs typeface="DM Sans" charset="0"/>
            </a:endParaRPr>
          </a:p>
        </p:txBody>
      </p:sp>
      <p:sp>
        <p:nvSpPr>
          <p:cNvPr id="14" name="Shape 12"/>
          <p:cNvSpPr/>
          <p:nvPr/>
        </p:nvSpPr>
        <p:spPr>
          <a:xfrm>
            <a:off x="3809853" y="2931806"/>
            <a:ext cx="7772504" cy="868495"/>
          </a:xfrm>
          <a:prstGeom prst="roundRect">
            <a:avLst>
              <a:gd name="adj" fmla="val 11698"/>
            </a:avLst>
          </a:prstGeom>
          <a:solidFill>
            <a:srgbClr val="FDE8E6"/>
          </a:solidFill>
          <a:ln/>
        </p:spPr>
      </p:sp>
      <p:sp>
        <p:nvSpPr>
          <p:cNvPr id="15" name="Text 13"/>
          <p:cNvSpPr/>
          <p:nvPr/>
        </p:nvSpPr>
        <p:spPr>
          <a:xfrm>
            <a:off x="4063780" y="3152732"/>
            <a:ext cx="1701727"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912018"/>
                </a:solidFill>
                <a:latin typeface="DM Sans" pitchFamily="34" charset="0"/>
                <a:ea typeface="DM Sans" pitchFamily="34" charset="-122"/>
                <a:cs typeface="DM Sans" pitchFamily="34" charset="-120"/>
              </a:rPr>
              <a:t>RED</a:t>
            </a:r>
            <a:endParaRPr lang="en-US" sz="2400" dirty="0">
              <a:latin typeface="DM Sans" charset="0"/>
              <a:ea typeface="DM Sans" charset="0"/>
              <a:cs typeface="DM Sans" charset="0"/>
            </a:endParaRPr>
          </a:p>
        </p:txBody>
      </p:sp>
      <p:sp>
        <p:nvSpPr>
          <p:cNvPr id="16" name="Text 14"/>
          <p:cNvSpPr/>
          <p:nvPr/>
        </p:nvSpPr>
        <p:spPr>
          <a:xfrm>
            <a:off x="5968633" y="3084162"/>
            <a:ext cx="5520592"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912018"/>
                </a:solidFill>
                <a:latin typeface="DM Sans" pitchFamily="34" charset="0"/>
                <a:ea typeface="DM Sans" pitchFamily="34" charset="-122"/>
                <a:cs typeface="DM Sans" pitchFamily="34" charset="-120"/>
              </a:rPr>
              <a:t>Days of stock are fewer than the supplier lead time</a:t>
            </a:r>
            <a:endParaRPr lang="en-US" sz="1600" dirty="0">
              <a:latin typeface="DM Sans" charset="0"/>
              <a:ea typeface="DM Sans" charset="0"/>
              <a:cs typeface="DM Sans" charset="0"/>
            </a:endParaRPr>
          </a:p>
        </p:txBody>
      </p:sp>
      <p:sp>
        <p:nvSpPr>
          <p:cNvPr id="17" name="Text 15"/>
          <p:cNvSpPr/>
          <p:nvPr/>
        </p:nvSpPr>
        <p:spPr>
          <a:xfrm>
            <a:off x="5968633" y="3399089"/>
            <a:ext cx="5520592"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C1A14"/>
                </a:solidFill>
                <a:latin typeface="DM Sans" pitchFamily="34" charset="0"/>
                <a:ea typeface="DM Sans" pitchFamily="34" charset="-122"/>
                <a:cs typeface="DM Sans" pitchFamily="34" charset="-120"/>
              </a:rPr>
              <a:t>Stock runs out even if you order now.</a:t>
            </a:r>
            <a:endParaRPr lang="en-US" sz="1400" dirty="0">
              <a:latin typeface="DM Sans" charset="0"/>
              <a:ea typeface="DM Sans" charset="0"/>
              <a:cs typeface="DM Sans" charset="0"/>
            </a:endParaRPr>
          </a:p>
        </p:txBody>
      </p:sp>
      <p:sp>
        <p:nvSpPr>
          <p:cNvPr id="18" name="Shape 16"/>
          <p:cNvSpPr/>
          <p:nvPr/>
        </p:nvSpPr>
        <p:spPr>
          <a:xfrm>
            <a:off x="3809853" y="3952658"/>
            <a:ext cx="7772504" cy="868495"/>
          </a:xfrm>
          <a:prstGeom prst="roundRect">
            <a:avLst>
              <a:gd name="adj" fmla="val 11698"/>
            </a:avLst>
          </a:prstGeom>
          <a:solidFill>
            <a:srgbClr val="FEF3C7"/>
          </a:solidFill>
          <a:ln/>
        </p:spPr>
      </p:sp>
      <p:sp>
        <p:nvSpPr>
          <p:cNvPr id="19" name="Text 17"/>
          <p:cNvSpPr/>
          <p:nvPr/>
        </p:nvSpPr>
        <p:spPr>
          <a:xfrm>
            <a:off x="4063780" y="4173584"/>
            <a:ext cx="1701727"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A4B00"/>
                </a:solidFill>
                <a:latin typeface="DM Sans" pitchFamily="34" charset="0"/>
                <a:ea typeface="DM Sans" pitchFamily="34" charset="-122"/>
                <a:cs typeface="DM Sans" pitchFamily="34" charset="-120"/>
              </a:rPr>
              <a:t>YELLOW</a:t>
            </a:r>
            <a:endParaRPr lang="en-US" sz="2400" dirty="0">
              <a:latin typeface="DM Sans" charset="0"/>
              <a:ea typeface="DM Sans" charset="0"/>
              <a:cs typeface="DM Sans" charset="0"/>
            </a:endParaRPr>
          </a:p>
        </p:txBody>
      </p:sp>
      <p:sp>
        <p:nvSpPr>
          <p:cNvPr id="20" name="Text 18"/>
          <p:cNvSpPr/>
          <p:nvPr/>
        </p:nvSpPr>
        <p:spPr>
          <a:xfrm>
            <a:off x="5968633" y="4105011"/>
            <a:ext cx="5520592"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7A4B00"/>
                </a:solidFill>
                <a:latin typeface="DM Sans" pitchFamily="34" charset="0"/>
                <a:ea typeface="DM Sans" pitchFamily="34" charset="-122"/>
                <a:cs typeface="DM Sans" pitchFamily="34" charset="-120"/>
              </a:rPr>
              <a:t>Stock is below the reorder point</a:t>
            </a:r>
            <a:endParaRPr lang="en-US" sz="1600" dirty="0">
              <a:latin typeface="DM Sans" charset="0"/>
              <a:ea typeface="DM Sans" charset="0"/>
              <a:cs typeface="DM Sans" charset="0"/>
            </a:endParaRPr>
          </a:p>
        </p:txBody>
      </p:sp>
      <p:sp>
        <p:nvSpPr>
          <p:cNvPr id="21" name="Text 19"/>
          <p:cNvSpPr/>
          <p:nvPr/>
        </p:nvSpPr>
        <p:spPr>
          <a:xfrm>
            <a:off x="5968633" y="4419941"/>
            <a:ext cx="5520592"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2F00"/>
                </a:solidFill>
                <a:latin typeface="DM Sans" pitchFamily="34" charset="0"/>
                <a:ea typeface="DM Sans" pitchFamily="34" charset="-122"/>
                <a:cs typeface="DM Sans" pitchFamily="34" charset="-120"/>
              </a:rPr>
              <a:t>Order now. It still arrives in time.</a:t>
            </a:r>
            <a:endParaRPr lang="en-US" sz="1400" dirty="0">
              <a:latin typeface="DM Sans" charset="0"/>
              <a:ea typeface="DM Sans" charset="0"/>
              <a:cs typeface="DM Sans" charset="0"/>
            </a:endParaRPr>
          </a:p>
        </p:txBody>
      </p:sp>
      <p:sp>
        <p:nvSpPr>
          <p:cNvPr id="22" name="Shape 20"/>
          <p:cNvSpPr/>
          <p:nvPr/>
        </p:nvSpPr>
        <p:spPr>
          <a:xfrm>
            <a:off x="3809853" y="4973507"/>
            <a:ext cx="7772504" cy="868495"/>
          </a:xfrm>
          <a:prstGeom prst="roundRect">
            <a:avLst>
              <a:gd name="adj" fmla="val 11698"/>
            </a:avLst>
          </a:prstGeom>
          <a:solidFill>
            <a:srgbClr val="DCFCE7"/>
          </a:solidFill>
          <a:ln/>
        </p:spPr>
      </p:sp>
      <p:sp>
        <p:nvSpPr>
          <p:cNvPr id="23" name="Text 21"/>
          <p:cNvSpPr/>
          <p:nvPr/>
        </p:nvSpPr>
        <p:spPr>
          <a:xfrm>
            <a:off x="4063780" y="5194433"/>
            <a:ext cx="1701727"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1643A"/>
                </a:solidFill>
                <a:latin typeface="DM Sans" pitchFamily="34" charset="0"/>
                <a:ea typeface="DM Sans" pitchFamily="34" charset="-122"/>
                <a:cs typeface="DM Sans" pitchFamily="34" charset="-120"/>
              </a:rPr>
              <a:t>GREEN</a:t>
            </a:r>
            <a:endParaRPr lang="en-US" sz="2400" dirty="0">
              <a:latin typeface="DM Sans" charset="0"/>
              <a:ea typeface="DM Sans" charset="0"/>
              <a:cs typeface="DM Sans" charset="0"/>
            </a:endParaRPr>
          </a:p>
        </p:txBody>
      </p:sp>
      <p:sp>
        <p:nvSpPr>
          <p:cNvPr id="24" name="Text 22"/>
          <p:cNvSpPr/>
          <p:nvPr/>
        </p:nvSpPr>
        <p:spPr>
          <a:xfrm>
            <a:off x="5968633" y="5125864"/>
            <a:ext cx="5520592"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1643A"/>
                </a:solidFill>
                <a:latin typeface="DM Sans" pitchFamily="34" charset="0"/>
                <a:ea typeface="DM Sans" pitchFamily="34" charset="-122"/>
                <a:cs typeface="DM Sans" pitchFamily="34" charset="-120"/>
              </a:rPr>
              <a:t>Otherwise</a:t>
            </a:r>
            <a:endParaRPr lang="en-US" sz="1600" dirty="0">
              <a:latin typeface="DM Sans" charset="0"/>
              <a:ea typeface="DM Sans" charset="0"/>
              <a:cs typeface="DM Sans" charset="0"/>
            </a:endParaRPr>
          </a:p>
        </p:txBody>
      </p:sp>
      <p:sp>
        <p:nvSpPr>
          <p:cNvPr id="25" name="Text 23"/>
          <p:cNvSpPr/>
          <p:nvPr/>
        </p:nvSpPr>
        <p:spPr>
          <a:xfrm>
            <a:off x="5968633" y="5440790"/>
            <a:ext cx="5520592"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4226"/>
                </a:solidFill>
                <a:latin typeface="DM Sans" pitchFamily="34" charset="0"/>
                <a:ea typeface="DM Sans" pitchFamily="34" charset="-122"/>
                <a:cs typeface="DM Sans" pitchFamily="34" charset="-120"/>
              </a:rPr>
              <a:t>No need to reorder.</a:t>
            </a:r>
            <a:endParaRPr lang="en-US" sz="1400" dirty="0">
              <a:latin typeface="DM Sans" charset="0"/>
              <a:ea typeface="DM Sans" charset="0"/>
              <a:cs typeface="DM Sans" charset="0"/>
            </a:endParaRPr>
          </a:p>
        </p:txBody>
      </p:sp>
      <p:sp>
        <p:nvSpPr>
          <p:cNvPr id="26" name="Text 24"/>
          <p:cNvSpPr/>
          <p:nvPr/>
        </p:nvSpPr>
        <p:spPr>
          <a:xfrm>
            <a:off x="3809927" y="6238215"/>
            <a:ext cx="80055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7</a:t>
            </a:r>
            <a:endParaRPr lang="en-US" sz="1200" dirty="0">
              <a:latin typeface="DM Sans" charset="0"/>
              <a:ea typeface="DM Sans" charset="0"/>
              <a:cs typeface="DM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4"/>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41"/>
                </a:solidFill>
                <a:latin typeface="DM Sans" pitchFamily="34" charset="0"/>
                <a:ea typeface="DM Sans" pitchFamily="34" charset="-122"/>
                <a:cs typeface="DM Sans" pitchFamily="34" charset="-120"/>
              </a:rPr>
              <a:t>What the rule finds in all 250 series</a:t>
            </a:r>
            <a:endParaRPr lang="en-US" sz="3600" dirty="0">
              <a:latin typeface="DM Sans" charset="0"/>
              <a:ea typeface="DM Sans" charset="0"/>
              <a:cs typeface="DM Sans" charset="0"/>
            </a:endParaRPr>
          </a:p>
        </p:txBody>
      </p:sp>
      <p:sp>
        <p:nvSpPr>
          <p:cNvPr id="3" name="Shape 1"/>
          <p:cNvSpPr/>
          <p:nvPr/>
        </p:nvSpPr>
        <p:spPr>
          <a:xfrm>
            <a:off x="815960" y="2119988"/>
            <a:ext cx="10560007" cy="952765"/>
          </a:xfrm>
          <a:prstGeom prst="roundRect">
            <a:avLst>
              <a:gd name="adj" fmla="val 10330"/>
            </a:avLst>
          </a:prstGeom>
          <a:solidFill>
            <a:srgbClr val="FFFFFF"/>
          </a:solidFill>
          <a:ln w="6350">
            <a:solidFill>
              <a:srgbClr val="E1E0D8"/>
            </a:solidFill>
            <a:prstDash val="solid"/>
          </a:ln>
        </p:spPr>
      </p:sp>
      <p:sp>
        <p:nvSpPr>
          <p:cNvPr id="4" name="Text 2"/>
          <p:cNvSpPr/>
          <p:nvPr/>
        </p:nvSpPr>
        <p:spPr>
          <a:xfrm>
            <a:off x="1071416" y="2400799"/>
            <a:ext cx="274693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2A41"/>
                </a:solidFill>
                <a:latin typeface="DM Sans" pitchFamily="34" charset="0"/>
                <a:ea typeface="DM Sans" pitchFamily="34" charset="-122"/>
                <a:cs typeface="DM Sans" pitchFamily="34" charset="-120"/>
              </a:rPr>
              <a:t>30 Nov 2024</a:t>
            </a:r>
            <a:endParaRPr lang="en-US" sz="2200" dirty="0">
              <a:latin typeface="DM Sans" charset="0"/>
              <a:ea typeface="DM Sans" charset="0"/>
              <a:cs typeface="DM Sans" charset="0"/>
            </a:endParaRPr>
          </a:p>
        </p:txBody>
      </p:sp>
      <p:sp>
        <p:nvSpPr>
          <p:cNvPr id="5" name="Text 3"/>
          <p:cNvSpPr/>
          <p:nvPr/>
        </p:nvSpPr>
        <p:spPr>
          <a:xfrm>
            <a:off x="3941484" y="2324658"/>
            <a:ext cx="1926314" cy="543425"/>
          </a:xfrm>
          <a:prstGeom prst="roundRect">
            <a:avLst>
              <a:gd name="adj" fmla="val 37392"/>
            </a:avLst>
          </a:prstGeom>
          <a:solidFill>
            <a:srgbClr val="DCFCE7"/>
          </a:solidFill>
          <a:ln/>
        </p:spPr>
        <p:txBody>
          <a:bodyPr wrap="none" lIns="0" tIns="0" rIns="0" bIns="0" rtlCol="0" anchor="ctr">
            <a:normAutofit/>
          </a:bodyPr>
          <a:lstStyle/>
          <a:p>
            <a:pPr algn="ctr" indent="0" marL="0">
              <a:lnSpc>
                <a:spcPts val="3080"/>
              </a:lnSpc>
              <a:buNone/>
            </a:pPr>
            <a:r>
              <a:rPr lang="en-US" sz="2200" b="1" dirty="0">
                <a:solidFill>
                  <a:srgbClr val="11643A"/>
                </a:solidFill>
                <a:latin typeface="DM Sans" pitchFamily="34" charset="0"/>
                <a:ea typeface="DM Sans" pitchFamily="34" charset="-122"/>
                <a:cs typeface="DM Sans" pitchFamily="34" charset="-120"/>
              </a:rPr>
              <a:t>250 GREEN</a:t>
            </a:r>
            <a:endParaRPr lang="en-US" sz="2200" dirty="0">
              <a:latin typeface="DM Sans" charset="0"/>
              <a:ea typeface="DM Sans" charset="0"/>
              <a:cs typeface="DM Sans" charset="0"/>
            </a:endParaRPr>
          </a:p>
        </p:txBody>
      </p:sp>
      <p:sp>
        <p:nvSpPr>
          <p:cNvPr id="6" name="Shape 4"/>
          <p:cNvSpPr/>
          <p:nvPr/>
        </p:nvSpPr>
        <p:spPr>
          <a:xfrm>
            <a:off x="815960" y="3231459"/>
            <a:ext cx="10560007" cy="952765"/>
          </a:xfrm>
          <a:prstGeom prst="roundRect">
            <a:avLst>
              <a:gd name="adj" fmla="val 10330"/>
            </a:avLst>
          </a:prstGeom>
          <a:solidFill>
            <a:srgbClr val="FFFFFF"/>
          </a:solidFill>
          <a:ln w="6350">
            <a:solidFill>
              <a:srgbClr val="E1E0D8"/>
            </a:solidFill>
            <a:prstDash val="solid"/>
          </a:ln>
        </p:spPr>
      </p:sp>
      <p:sp>
        <p:nvSpPr>
          <p:cNvPr id="7" name="Text 5"/>
          <p:cNvSpPr/>
          <p:nvPr/>
        </p:nvSpPr>
        <p:spPr>
          <a:xfrm>
            <a:off x="1071416" y="3512269"/>
            <a:ext cx="274693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2A41"/>
                </a:solidFill>
                <a:latin typeface="DM Sans" pitchFamily="34" charset="0"/>
                <a:ea typeface="DM Sans" pitchFamily="34" charset="-122"/>
                <a:cs typeface="DM Sans" pitchFamily="34" charset="-120"/>
              </a:rPr>
              <a:t>22 May 2024</a:t>
            </a:r>
            <a:endParaRPr lang="en-US" sz="2200" dirty="0">
              <a:latin typeface="DM Sans" charset="0"/>
              <a:ea typeface="DM Sans" charset="0"/>
              <a:cs typeface="DM Sans" charset="0"/>
            </a:endParaRPr>
          </a:p>
        </p:txBody>
      </p:sp>
      <p:sp>
        <p:nvSpPr>
          <p:cNvPr id="8" name="Text 6"/>
          <p:cNvSpPr/>
          <p:nvPr/>
        </p:nvSpPr>
        <p:spPr>
          <a:xfrm>
            <a:off x="3941484" y="3436128"/>
            <a:ext cx="1826287" cy="543425"/>
          </a:xfrm>
          <a:prstGeom prst="roundRect">
            <a:avLst>
              <a:gd name="adj" fmla="val 37392"/>
            </a:avLst>
          </a:prstGeom>
          <a:solidFill>
            <a:srgbClr val="DCFCE7"/>
          </a:solidFill>
          <a:ln/>
        </p:spPr>
        <p:txBody>
          <a:bodyPr wrap="none" lIns="0" tIns="0" rIns="0" bIns="0" rtlCol="0" anchor="ctr">
            <a:normAutofit/>
          </a:bodyPr>
          <a:lstStyle/>
          <a:p>
            <a:pPr algn="ctr" indent="0" marL="0">
              <a:lnSpc>
                <a:spcPts val="3080"/>
              </a:lnSpc>
              <a:buNone/>
            </a:pPr>
            <a:r>
              <a:rPr lang="en-US" sz="2200" b="1" dirty="0">
                <a:solidFill>
                  <a:srgbClr val="11643A"/>
                </a:solidFill>
                <a:latin typeface="DM Sans" pitchFamily="34" charset="0"/>
                <a:ea typeface="DM Sans" pitchFamily="34" charset="-122"/>
                <a:cs typeface="DM Sans" pitchFamily="34" charset="-120"/>
              </a:rPr>
              <a:t>213 GREEN</a:t>
            </a:r>
            <a:endParaRPr lang="en-US" sz="2200" dirty="0">
              <a:latin typeface="DM Sans" charset="0"/>
              <a:ea typeface="DM Sans" charset="0"/>
              <a:cs typeface="DM Sans" charset="0"/>
            </a:endParaRPr>
          </a:p>
        </p:txBody>
      </p:sp>
      <p:sp>
        <p:nvSpPr>
          <p:cNvPr id="9" name="Text 7"/>
          <p:cNvSpPr/>
          <p:nvPr/>
        </p:nvSpPr>
        <p:spPr>
          <a:xfrm>
            <a:off x="5970912" y="3436128"/>
            <a:ext cx="1271470" cy="543425"/>
          </a:xfrm>
          <a:prstGeom prst="roundRect">
            <a:avLst>
              <a:gd name="adj" fmla="val 37392"/>
            </a:avLst>
          </a:prstGeom>
          <a:solidFill>
            <a:srgbClr val="FDE8E6"/>
          </a:solidFill>
          <a:ln/>
        </p:spPr>
        <p:txBody>
          <a:bodyPr wrap="none" lIns="0" tIns="0" rIns="0" bIns="0" rtlCol="0" anchor="ctr">
            <a:normAutofit/>
          </a:bodyPr>
          <a:lstStyle/>
          <a:p>
            <a:pPr algn="ctr" indent="0" marL="0">
              <a:lnSpc>
                <a:spcPts val="3080"/>
              </a:lnSpc>
              <a:buNone/>
            </a:pPr>
            <a:r>
              <a:rPr lang="en-US" sz="2200" b="1" dirty="0">
                <a:solidFill>
                  <a:srgbClr val="912018"/>
                </a:solidFill>
                <a:latin typeface="DM Sans" pitchFamily="34" charset="0"/>
                <a:ea typeface="DM Sans" pitchFamily="34" charset="-122"/>
                <a:cs typeface="DM Sans" pitchFamily="34" charset="-120"/>
              </a:rPr>
              <a:t>21 RED</a:t>
            </a:r>
            <a:endParaRPr lang="en-US" sz="2200" dirty="0">
              <a:latin typeface="DM Sans" charset="0"/>
              <a:ea typeface="DM Sans" charset="0"/>
              <a:cs typeface="DM Sans" charset="0"/>
            </a:endParaRPr>
          </a:p>
        </p:txBody>
      </p:sp>
      <p:sp>
        <p:nvSpPr>
          <p:cNvPr id="10" name="Text 8"/>
          <p:cNvSpPr/>
          <p:nvPr/>
        </p:nvSpPr>
        <p:spPr>
          <a:xfrm>
            <a:off x="7445523" y="3436128"/>
            <a:ext cx="1880894" cy="543425"/>
          </a:xfrm>
          <a:prstGeom prst="roundRect">
            <a:avLst>
              <a:gd name="adj" fmla="val 37392"/>
            </a:avLst>
          </a:prstGeom>
          <a:solidFill>
            <a:srgbClr val="FEF3C7"/>
          </a:solidFill>
          <a:ln/>
        </p:spPr>
        <p:txBody>
          <a:bodyPr wrap="none" lIns="0" tIns="0" rIns="0" bIns="0" rtlCol="0" anchor="ctr">
            <a:normAutofit/>
          </a:bodyPr>
          <a:lstStyle/>
          <a:p>
            <a:pPr algn="ctr" indent="0" marL="0">
              <a:lnSpc>
                <a:spcPts val="3080"/>
              </a:lnSpc>
              <a:buNone/>
            </a:pPr>
            <a:r>
              <a:rPr lang="en-US" sz="2200" b="1" dirty="0">
                <a:solidFill>
                  <a:srgbClr val="7A4B00"/>
                </a:solidFill>
                <a:latin typeface="DM Sans" pitchFamily="34" charset="0"/>
                <a:ea typeface="DM Sans" pitchFamily="34" charset="-122"/>
                <a:cs typeface="DM Sans" pitchFamily="34" charset="-120"/>
              </a:rPr>
              <a:t>16 YELLOW</a:t>
            </a:r>
            <a:endParaRPr lang="en-US" sz="2200" dirty="0">
              <a:latin typeface="DM Sans" charset="0"/>
              <a:ea typeface="DM Sans" charset="0"/>
              <a:cs typeface="DM Sans" charset="0"/>
            </a:endParaRPr>
          </a:p>
        </p:txBody>
      </p:sp>
      <p:sp>
        <p:nvSpPr>
          <p:cNvPr id="11" name="Text 9"/>
          <p:cNvSpPr/>
          <p:nvPr/>
        </p:nvSpPr>
        <p:spPr>
          <a:xfrm>
            <a:off x="812785" y="4988502"/>
            <a:ext cx="10883348" cy="8789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05E"/>
                </a:solidFill>
                <a:latin typeface="DM Sans" pitchFamily="34" charset="0"/>
                <a:ea typeface="DM Sans" pitchFamily="34" charset="-122"/>
                <a:cs typeface="DM Sans" pitchFamily="34" charset="-120"/>
              </a:rPr>
              <a:t>In December nothing needs an urgent order: stock lasts 18 to 64 days and lead times are 3 to 14 days. In the high-demand season the same rule flags 37 series. These colours use the last 90 days of actual sales, not a forecast.</a:t>
            </a:r>
            <a:endParaRPr lang="en-US" sz="1600" dirty="0">
              <a:latin typeface="DM Sans" charset="0"/>
              <a:ea typeface="DM Sans" charset="0"/>
              <a:cs typeface="DM Sans" charset="0"/>
            </a:endParaRPr>
          </a:p>
        </p:txBody>
      </p:sp>
      <p:sp>
        <p:nvSpPr>
          <p:cNvPr id="12" name="Text 10"/>
          <p:cNvSpPr/>
          <p:nvPr/>
        </p:nvSpPr>
        <p:spPr>
          <a:xfrm>
            <a:off x="812785" y="623821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8</a:t>
            </a:r>
            <a:endParaRPr lang="en-US" sz="1200" dirty="0">
              <a:latin typeface="DM Sans" charset="0"/>
              <a:ea typeface="DM Sans" charset="0"/>
              <a:cs typeface="DM San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8"/>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41"/>
                </a:solidFill>
                <a:latin typeface="DM Sans" pitchFamily="34" charset="0"/>
                <a:ea typeface="DM Sans" pitchFamily="34" charset="-122"/>
                <a:cs typeface="DM Sans" pitchFamily="34" charset="-120"/>
              </a:rPr>
              <a:t>SQL features used</a:t>
            </a:r>
            <a:endParaRPr lang="en-US" sz="3600" dirty="0">
              <a:latin typeface="DM Sans" charset="0"/>
              <a:ea typeface="DM Sans" charset="0"/>
              <a:cs typeface="DM Sans" charset="0"/>
            </a:endParaRPr>
          </a:p>
        </p:txBody>
      </p:sp>
      <p:sp>
        <p:nvSpPr>
          <p:cNvPr id="3" name="Shape 1"/>
          <p:cNvSpPr/>
          <p:nvPr/>
        </p:nvSpPr>
        <p:spPr>
          <a:xfrm>
            <a:off x="815960" y="2921236"/>
            <a:ext cx="3380317" cy="1354050"/>
          </a:xfrm>
          <a:prstGeom prst="roundRect">
            <a:avLst>
              <a:gd name="adj" fmla="val 7269"/>
            </a:avLst>
          </a:prstGeom>
          <a:solidFill>
            <a:srgbClr val="FFFFFF"/>
          </a:solidFill>
          <a:ln w="6350">
            <a:solidFill>
              <a:srgbClr val="E1E0D8"/>
            </a:solidFill>
            <a:prstDash val="solid"/>
          </a:ln>
        </p:spPr>
      </p:sp>
      <p:sp>
        <p:nvSpPr>
          <p:cNvPr id="4" name="Text 2"/>
          <p:cNvSpPr/>
          <p:nvPr/>
        </p:nvSpPr>
        <p:spPr>
          <a:xfrm>
            <a:off x="1046060" y="3151336"/>
            <a:ext cx="3007722" cy="345399"/>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766E"/>
                </a:solidFill>
                <a:latin typeface="DM Sans" pitchFamily="34" charset="0"/>
                <a:ea typeface="DM Sans" pitchFamily="34" charset="-122"/>
                <a:cs typeface="DM Sans" pitchFamily="34" charset="-120"/>
              </a:rPr>
              <a:t>Views</a:t>
            </a:r>
            <a:endParaRPr lang="en-US" sz="1800" dirty="0">
              <a:latin typeface="DM Sans" charset="0"/>
              <a:ea typeface="DM Sans" charset="0"/>
              <a:cs typeface="DM Sans" charset="0"/>
            </a:endParaRPr>
          </a:p>
        </p:txBody>
      </p:sp>
      <p:sp>
        <p:nvSpPr>
          <p:cNvPr id="5" name="Text 3"/>
          <p:cNvSpPr/>
          <p:nvPr/>
        </p:nvSpPr>
        <p:spPr>
          <a:xfrm>
            <a:off x="1046060" y="3547480"/>
            <a:ext cx="3007722" cy="52311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05E"/>
                </a:solidFill>
                <a:latin typeface="DM Sans" pitchFamily="34" charset="0"/>
                <a:ea typeface="DM Sans" pitchFamily="34" charset="-122"/>
                <a:cs typeface="DM Sans" pitchFamily="34" charset="-120"/>
              </a:rPr>
              <a:t>risk dashboard, forecast accuracy, risk of all 250 series</a:t>
            </a:r>
            <a:endParaRPr lang="en-US" sz="1400" dirty="0">
              <a:latin typeface="DM Sans" charset="0"/>
              <a:ea typeface="DM Sans" charset="0"/>
              <a:cs typeface="DM Sans" charset="0"/>
            </a:endParaRPr>
          </a:p>
        </p:txBody>
      </p:sp>
      <p:sp>
        <p:nvSpPr>
          <p:cNvPr id="6" name="Shape 4"/>
          <p:cNvSpPr/>
          <p:nvPr/>
        </p:nvSpPr>
        <p:spPr>
          <a:xfrm>
            <a:off x="4405769" y="2921236"/>
            <a:ext cx="3380317" cy="1354050"/>
          </a:xfrm>
          <a:prstGeom prst="roundRect">
            <a:avLst>
              <a:gd name="adj" fmla="val 7269"/>
            </a:avLst>
          </a:prstGeom>
          <a:solidFill>
            <a:srgbClr val="FFFFFF"/>
          </a:solidFill>
          <a:ln w="6350">
            <a:solidFill>
              <a:srgbClr val="E1E0D8"/>
            </a:solidFill>
            <a:prstDash val="solid"/>
          </a:ln>
        </p:spPr>
      </p:sp>
      <p:sp>
        <p:nvSpPr>
          <p:cNvPr id="7" name="Text 5"/>
          <p:cNvSpPr/>
          <p:nvPr/>
        </p:nvSpPr>
        <p:spPr>
          <a:xfrm>
            <a:off x="4635868" y="3151336"/>
            <a:ext cx="3007722" cy="345399"/>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766E"/>
                </a:solidFill>
                <a:latin typeface="DM Sans" pitchFamily="34" charset="0"/>
                <a:ea typeface="DM Sans" pitchFamily="34" charset="-122"/>
                <a:cs typeface="DM Sans" pitchFamily="34" charset="-120"/>
              </a:rPr>
              <a:t>Window functions</a:t>
            </a:r>
            <a:endParaRPr lang="en-US" sz="1800" dirty="0">
              <a:latin typeface="DM Sans" charset="0"/>
              <a:ea typeface="DM Sans" charset="0"/>
              <a:cs typeface="DM Sans" charset="0"/>
            </a:endParaRPr>
          </a:p>
        </p:txBody>
      </p:sp>
      <p:sp>
        <p:nvSpPr>
          <p:cNvPr id="8" name="Text 6"/>
          <p:cNvSpPr/>
          <p:nvPr/>
        </p:nvSpPr>
        <p:spPr>
          <a:xfrm>
            <a:off x="4635868" y="3547480"/>
            <a:ext cx="3007722" cy="52311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05E"/>
                </a:solidFill>
                <a:latin typeface="DM Sans" pitchFamily="34" charset="0"/>
                <a:ea typeface="DM Sans" pitchFamily="34" charset="-122"/>
                <a:cs typeface="DM Sans" pitchFamily="34" charset="-120"/>
              </a:rPr>
              <a:t>RANK picks the best model; a rolling 90-day average and spread</a:t>
            </a:r>
            <a:endParaRPr lang="en-US" sz="1400" dirty="0">
              <a:latin typeface="DM Sans" charset="0"/>
              <a:ea typeface="DM Sans" charset="0"/>
              <a:cs typeface="DM Sans" charset="0"/>
            </a:endParaRPr>
          </a:p>
        </p:txBody>
      </p:sp>
      <p:sp>
        <p:nvSpPr>
          <p:cNvPr id="9" name="Shape 7"/>
          <p:cNvSpPr/>
          <p:nvPr/>
        </p:nvSpPr>
        <p:spPr>
          <a:xfrm>
            <a:off x="7995577" y="2921236"/>
            <a:ext cx="3380317" cy="1354050"/>
          </a:xfrm>
          <a:prstGeom prst="roundRect">
            <a:avLst>
              <a:gd name="adj" fmla="val 7269"/>
            </a:avLst>
          </a:prstGeom>
          <a:solidFill>
            <a:srgbClr val="FFFFFF"/>
          </a:solidFill>
          <a:ln w="6350">
            <a:solidFill>
              <a:srgbClr val="E1E0D8"/>
            </a:solidFill>
            <a:prstDash val="solid"/>
          </a:ln>
        </p:spPr>
      </p:sp>
      <p:sp>
        <p:nvSpPr>
          <p:cNvPr id="10" name="Text 8"/>
          <p:cNvSpPr/>
          <p:nvPr/>
        </p:nvSpPr>
        <p:spPr>
          <a:xfrm>
            <a:off x="8225676" y="3151336"/>
            <a:ext cx="3007722" cy="345399"/>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766E"/>
                </a:solidFill>
                <a:latin typeface="DM Sans" pitchFamily="34" charset="0"/>
                <a:ea typeface="DM Sans" pitchFamily="34" charset="-122"/>
                <a:cs typeface="DM Sans" pitchFamily="34" charset="-120"/>
              </a:rPr>
              <a:t>Joins and CTEs</a:t>
            </a:r>
            <a:endParaRPr lang="en-US" sz="1800" dirty="0">
              <a:latin typeface="DM Sans" charset="0"/>
              <a:ea typeface="DM Sans" charset="0"/>
              <a:cs typeface="DM Sans" charset="0"/>
            </a:endParaRPr>
          </a:p>
        </p:txBody>
      </p:sp>
      <p:sp>
        <p:nvSpPr>
          <p:cNvPr id="11" name="Text 9"/>
          <p:cNvSpPr/>
          <p:nvPr/>
        </p:nvSpPr>
        <p:spPr>
          <a:xfrm>
            <a:off x="8225676" y="3547480"/>
            <a:ext cx="3007722" cy="52311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05E"/>
                </a:solidFill>
                <a:latin typeface="DM Sans" pitchFamily="34" charset="0"/>
                <a:ea typeface="DM Sans" pitchFamily="34" charset="-122"/>
                <a:cs typeface="DM Sans" pitchFamily="34" charset="-120"/>
              </a:rPr>
              <a:t>views join several tables; WITH blocks keep queries readable</a:t>
            </a:r>
            <a:endParaRPr lang="en-US" sz="1400" dirty="0">
              <a:latin typeface="DM Sans" charset="0"/>
              <a:ea typeface="DM Sans" charset="0"/>
              <a:cs typeface="DM Sans" charset="0"/>
            </a:endParaRPr>
          </a:p>
        </p:txBody>
      </p:sp>
      <p:sp>
        <p:nvSpPr>
          <p:cNvPr id="12" name="Shape 10"/>
          <p:cNvSpPr/>
          <p:nvPr/>
        </p:nvSpPr>
        <p:spPr>
          <a:xfrm>
            <a:off x="815960" y="4484781"/>
            <a:ext cx="3380317" cy="1354050"/>
          </a:xfrm>
          <a:prstGeom prst="roundRect">
            <a:avLst>
              <a:gd name="adj" fmla="val 7269"/>
            </a:avLst>
          </a:prstGeom>
          <a:solidFill>
            <a:srgbClr val="FFFFFF"/>
          </a:solidFill>
          <a:ln w="6350">
            <a:solidFill>
              <a:srgbClr val="E1E0D8"/>
            </a:solidFill>
            <a:prstDash val="solid"/>
          </a:ln>
        </p:spPr>
      </p:sp>
      <p:sp>
        <p:nvSpPr>
          <p:cNvPr id="13" name="Text 11"/>
          <p:cNvSpPr/>
          <p:nvPr/>
        </p:nvSpPr>
        <p:spPr>
          <a:xfrm>
            <a:off x="1046060" y="4714875"/>
            <a:ext cx="3007722" cy="345399"/>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766E"/>
                </a:solidFill>
                <a:latin typeface="DM Sans" pitchFamily="34" charset="0"/>
                <a:ea typeface="DM Sans" pitchFamily="34" charset="-122"/>
                <a:cs typeface="DM Sans" pitchFamily="34" charset="-120"/>
              </a:rPr>
              <a:t>Constraints</a:t>
            </a:r>
            <a:endParaRPr lang="en-US" sz="1800" dirty="0">
              <a:latin typeface="DM Sans" charset="0"/>
              <a:ea typeface="DM Sans" charset="0"/>
              <a:cs typeface="DM Sans" charset="0"/>
            </a:endParaRPr>
          </a:p>
        </p:txBody>
      </p:sp>
      <p:sp>
        <p:nvSpPr>
          <p:cNvPr id="14" name="Text 12"/>
          <p:cNvSpPr/>
          <p:nvPr/>
        </p:nvSpPr>
        <p:spPr>
          <a:xfrm>
            <a:off x="1046060" y="5111018"/>
            <a:ext cx="3007722" cy="52311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05E"/>
                </a:solidFill>
                <a:latin typeface="DM Sans" pitchFamily="34" charset="0"/>
                <a:ea typeface="DM Sans" pitchFamily="34" charset="-122"/>
                <a:cs typeface="DM Sans" pitchFamily="34" charset="-120"/>
              </a:rPr>
              <a:t>primary keys, foreign keys and CHECK rules</a:t>
            </a:r>
            <a:endParaRPr lang="en-US" sz="1400" dirty="0">
              <a:latin typeface="DM Sans" charset="0"/>
              <a:ea typeface="DM Sans" charset="0"/>
              <a:cs typeface="DM Sans" charset="0"/>
            </a:endParaRPr>
          </a:p>
        </p:txBody>
      </p:sp>
      <p:sp>
        <p:nvSpPr>
          <p:cNvPr id="15" name="Shape 13"/>
          <p:cNvSpPr/>
          <p:nvPr/>
        </p:nvSpPr>
        <p:spPr>
          <a:xfrm>
            <a:off x="4405769" y="4484781"/>
            <a:ext cx="3380317" cy="1354050"/>
          </a:xfrm>
          <a:prstGeom prst="roundRect">
            <a:avLst>
              <a:gd name="adj" fmla="val 7269"/>
            </a:avLst>
          </a:prstGeom>
          <a:solidFill>
            <a:srgbClr val="FFFFFF"/>
          </a:solidFill>
          <a:ln w="6350">
            <a:solidFill>
              <a:srgbClr val="E1E0D8"/>
            </a:solidFill>
            <a:prstDash val="solid"/>
          </a:ln>
        </p:spPr>
      </p:sp>
      <p:sp>
        <p:nvSpPr>
          <p:cNvPr id="16" name="Text 14"/>
          <p:cNvSpPr/>
          <p:nvPr/>
        </p:nvSpPr>
        <p:spPr>
          <a:xfrm>
            <a:off x="4635868" y="4714875"/>
            <a:ext cx="3007722" cy="345399"/>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766E"/>
                </a:solidFill>
                <a:latin typeface="DM Sans" pitchFamily="34" charset="0"/>
                <a:ea typeface="DM Sans" pitchFamily="34" charset="-122"/>
                <a:cs typeface="DM Sans" pitchFamily="34" charset="-120"/>
              </a:rPr>
              <a:t>Stored procedure</a:t>
            </a:r>
            <a:endParaRPr lang="en-US" sz="1800" dirty="0">
              <a:latin typeface="DM Sans" charset="0"/>
              <a:ea typeface="DM Sans" charset="0"/>
              <a:cs typeface="DM Sans" charset="0"/>
            </a:endParaRPr>
          </a:p>
        </p:txBody>
      </p:sp>
      <p:sp>
        <p:nvSpPr>
          <p:cNvPr id="17" name="Text 15"/>
          <p:cNvSpPr/>
          <p:nvPr/>
        </p:nvSpPr>
        <p:spPr>
          <a:xfrm>
            <a:off x="4635868" y="5111018"/>
            <a:ext cx="3007722"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05E"/>
                </a:solidFill>
                <a:latin typeface="DM Sans" pitchFamily="34" charset="0"/>
                <a:ea typeface="DM Sans" pitchFamily="34" charset="-122"/>
                <a:cs typeface="DM Sans" pitchFamily="34" charset="-120"/>
              </a:rPr>
              <a:t>risk history of one series</a:t>
            </a:r>
            <a:endParaRPr lang="en-US" sz="1400" dirty="0">
              <a:latin typeface="DM Sans" charset="0"/>
              <a:ea typeface="DM Sans" charset="0"/>
              <a:cs typeface="DM Sans" charset="0"/>
            </a:endParaRPr>
          </a:p>
        </p:txBody>
      </p:sp>
      <p:sp>
        <p:nvSpPr>
          <p:cNvPr id="18" name="Text 16"/>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9</a:t>
            </a:r>
            <a:endParaRPr lang="en-US" sz="1200" dirty="0">
              <a:latin typeface="DM Sans" charset="0"/>
              <a:ea typeface="DM Sans" charset="0"/>
              <a:cs typeface="DM San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Shape 0"/>
          <p:cNvSpPr/>
          <p:nvPr/>
        </p:nvSpPr>
        <p:spPr>
          <a:xfrm>
            <a:off x="0" y="0"/>
            <a:ext cx="3301927" cy="6857927"/>
          </a:xfrm>
          <a:prstGeom prst="rect">
            <a:avLst/>
          </a:prstGeom>
          <a:solidFill>
            <a:srgbClr val="1B2A41"/>
          </a:solidFill>
          <a:ln/>
        </p:spPr>
      </p:sp>
      <p:sp>
        <p:nvSpPr>
          <p:cNvPr id="3" name="Text 1"/>
          <p:cNvSpPr/>
          <p:nvPr/>
        </p:nvSpPr>
        <p:spPr>
          <a:xfrm>
            <a:off x="304785" y="812781"/>
            <a:ext cx="2773127"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EAD4"/>
                </a:solidFill>
                <a:latin typeface="DM Sans" pitchFamily="34" charset="0"/>
                <a:ea typeface="DM Sans" pitchFamily="34" charset="-122"/>
                <a:cs typeface="DM Sans" pitchFamily="34" charset="-120"/>
              </a:rPr>
              <a:t>TOPIC</a:t>
            </a:r>
            <a:endParaRPr lang="en-US" sz="1200" dirty="0">
              <a:latin typeface="DM Sans" charset="0"/>
              <a:ea typeface="DM Sans" charset="0"/>
              <a:cs typeface="DM Sans" charset="0"/>
            </a:endParaRPr>
          </a:p>
        </p:txBody>
      </p:sp>
      <p:sp>
        <p:nvSpPr>
          <p:cNvPr id="4" name="Text 2"/>
          <p:cNvSpPr/>
          <p:nvPr/>
        </p:nvSpPr>
        <p:spPr>
          <a:xfrm>
            <a:off x="304785" y="1153065"/>
            <a:ext cx="2773127" cy="609541"/>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6F5F0"/>
                </a:solidFill>
                <a:latin typeface="DM Sans" pitchFamily="34" charset="0"/>
                <a:ea typeface="DM Sans" pitchFamily="34" charset="-122"/>
                <a:cs typeface="DM Sans" pitchFamily="34" charset="-120"/>
              </a:rPr>
              <a:t>Inventory optimization</a:t>
            </a:r>
            <a:endParaRPr lang="en-US" sz="2000" dirty="0">
              <a:latin typeface="DM Sans" charset="0"/>
              <a:ea typeface="DM Sans" charset="0"/>
              <a:cs typeface="DM Sans" charset="0"/>
            </a:endParaRPr>
          </a:p>
        </p:txBody>
      </p:sp>
      <p:sp>
        <p:nvSpPr>
          <p:cNvPr id="5" name="Shape 3"/>
          <p:cNvSpPr/>
          <p:nvPr/>
        </p:nvSpPr>
        <p:spPr>
          <a:xfrm>
            <a:off x="311135" y="1864134"/>
            <a:ext cx="0" cy="2386910"/>
          </a:xfrm>
          <a:prstGeom prst="line">
            <a:avLst/>
          </a:prstGeom>
          <a:noFill/>
          <a:ln w="12700">
            <a:solidFill>
              <a:srgbClr val="3B4B63"/>
            </a:solidFill>
            <a:prstDash val="solid"/>
          </a:ln>
        </p:spPr>
      </p:sp>
      <p:sp>
        <p:nvSpPr>
          <p:cNvPr id="6" name="Text 4"/>
          <p:cNvSpPr/>
          <p:nvPr/>
        </p:nvSpPr>
        <p:spPr>
          <a:xfrm>
            <a:off x="466549" y="1864134"/>
            <a:ext cx="26065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5F0"/>
                </a:solidFill>
                <a:latin typeface="DM Sans" pitchFamily="34" charset="0"/>
                <a:ea typeface="DM Sans" pitchFamily="34" charset="-122"/>
                <a:cs typeface="DM Sans" pitchFamily="34" charset="-120"/>
              </a:rPr>
              <a:t>Statistical analysis</a:t>
            </a:r>
            <a:endParaRPr lang="en-US" sz="1600" dirty="0">
              <a:latin typeface="DM Sans" charset="0"/>
              <a:ea typeface="DM Sans" charset="0"/>
              <a:cs typeface="DM Sans" charset="0"/>
            </a:endParaRPr>
          </a:p>
        </p:txBody>
      </p:sp>
      <p:sp>
        <p:nvSpPr>
          <p:cNvPr id="7" name="Shape 5"/>
          <p:cNvSpPr/>
          <p:nvPr/>
        </p:nvSpPr>
        <p:spPr>
          <a:xfrm>
            <a:off x="472899" y="2224776"/>
            <a:ext cx="0" cy="1304984"/>
          </a:xfrm>
          <a:prstGeom prst="line">
            <a:avLst/>
          </a:prstGeom>
          <a:noFill/>
          <a:ln w="12700">
            <a:solidFill>
              <a:srgbClr val="3B4B63"/>
            </a:solidFill>
            <a:prstDash val="solid"/>
          </a:ln>
        </p:spPr>
      </p:sp>
      <p:sp>
        <p:nvSpPr>
          <p:cNvPr id="8" name="Text 6"/>
          <p:cNvSpPr/>
          <p:nvPr/>
        </p:nvSpPr>
        <p:spPr>
          <a:xfrm>
            <a:off x="602883" y="2224776"/>
            <a:ext cx="2394259" cy="401138"/>
          </a:xfrm>
          <a:prstGeom prst="roundRect">
            <a:avLst>
              <a:gd name="adj" fmla="val 18996"/>
            </a:avLst>
          </a:prstGeom>
          <a:solidFill>
            <a:srgbClr val="0F766E"/>
          </a:solidFill>
          <a:ln/>
        </p:spPr>
        <p:txBody>
          <a:bodyPr wrap="square" lIns="79282" tIns="53882" rIns="13550" bIns="28482" rtlCol="0" anchor="t">
            <a:normAutofit/>
          </a:bodyPr>
          <a:lstStyle/>
          <a:p>
            <a:pPr algn="l" indent="0" marL="0">
              <a:lnSpc>
                <a:spcPts val="1960"/>
              </a:lnSpc>
              <a:buNone/>
            </a:pPr>
            <a:r>
              <a:rPr lang="en-US" sz="1400" b="1" dirty="0">
                <a:solidFill>
                  <a:srgbClr val="FFFFFF"/>
                </a:solidFill>
                <a:latin typeface="DM Sans" pitchFamily="34" charset="0"/>
                <a:ea typeface="DM Sans" pitchFamily="34" charset="-122"/>
                <a:cs typeface="DM Sans" pitchFamily="34" charset="-120"/>
              </a:rPr>
              <a:t>Safety stock calculation</a:t>
            </a:r>
            <a:endParaRPr lang="en-US" sz="1400" dirty="0">
              <a:latin typeface="DM Sans" charset="0"/>
              <a:ea typeface="DM Sans" charset="0"/>
              <a:cs typeface="DM Sans" charset="0"/>
            </a:endParaRPr>
          </a:p>
        </p:txBody>
      </p:sp>
      <p:sp>
        <p:nvSpPr>
          <p:cNvPr id="9" name="Text 7"/>
          <p:cNvSpPr/>
          <p:nvPr/>
        </p:nvSpPr>
        <p:spPr>
          <a:xfrm>
            <a:off x="704483" y="2752899"/>
            <a:ext cx="2256791" cy="274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Reorder point</a:t>
            </a:r>
            <a:endParaRPr lang="en-US" sz="1400" dirty="0">
              <a:latin typeface="DM Sans" charset="0"/>
              <a:ea typeface="DM Sans" charset="0"/>
              <a:cs typeface="DM Sans" charset="0"/>
            </a:endParaRPr>
          </a:p>
        </p:txBody>
      </p:sp>
      <p:sp>
        <p:nvSpPr>
          <p:cNvPr id="10" name="Text 8"/>
          <p:cNvSpPr/>
          <p:nvPr/>
        </p:nvSpPr>
        <p:spPr>
          <a:xfrm>
            <a:off x="704483" y="3204821"/>
            <a:ext cx="2256791" cy="274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Days of stock</a:t>
            </a:r>
            <a:endParaRPr lang="en-US" sz="1400" dirty="0">
              <a:latin typeface="DM Sans" charset="0"/>
              <a:ea typeface="DM Sans" charset="0"/>
              <a:cs typeface="DM Sans" charset="0"/>
            </a:endParaRPr>
          </a:p>
        </p:txBody>
      </p:sp>
      <p:sp>
        <p:nvSpPr>
          <p:cNvPr id="11" name="Text 9"/>
          <p:cNvSpPr/>
          <p:nvPr/>
        </p:nvSpPr>
        <p:spPr>
          <a:xfrm>
            <a:off x="466549" y="3605901"/>
            <a:ext cx="26065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5F0"/>
                </a:solidFill>
                <a:latin typeface="DM Sans" pitchFamily="34" charset="0"/>
                <a:ea typeface="DM Sans" pitchFamily="34" charset="-122"/>
                <a:cs typeface="DM Sans" pitchFamily="34" charset="-120"/>
              </a:rPr>
              <a:t>Risk classification</a:t>
            </a:r>
            <a:endParaRPr lang="en-US" sz="1600" dirty="0">
              <a:latin typeface="DM Sans" charset="0"/>
              <a:ea typeface="DM Sans" charset="0"/>
              <a:cs typeface="DM Sans" charset="0"/>
            </a:endParaRPr>
          </a:p>
        </p:txBody>
      </p:sp>
      <p:sp>
        <p:nvSpPr>
          <p:cNvPr id="12" name="Text 10"/>
          <p:cNvSpPr/>
          <p:nvPr/>
        </p:nvSpPr>
        <p:spPr>
          <a:xfrm>
            <a:off x="466549" y="3966542"/>
            <a:ext cx="26065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5F0"/>
                </a:solidFill>
                <a:latin typeface="DM Sans" pitchFamily="34" charset="0"/>
                <a:ea typeface="DM Sans" pitchFamily="34" charset="-122"/>
                <a:cs typeface="DM Sans" pitchFamily="34" charset="-120"/>
              </a:rPr>
              <a:t>Budget plan (planned)</a:t>
            </a:r>
            <a:endParaRPr lang="en-US" sz="1600" dirty="0">
              <a:latin typeface="DM Sans" charset="0"/>
              <a:ea typeface="DM Sans" charset="0"/>
              <a:cs typeface="DM Sans" charset="0"/>
            </a:endParaRPr>
          </a:p>
        </p:txBody>
      </p:sp>
      <p:sp>
        <p:nvSpPr>
          <p:cNvPr id="13" name="Text 11"/>
          <p:cNvSpPr/>
          <p:nvPr>
            <p:ph type="title"/>
          </p:nvPr>
        </p:nvSpPr>
        <p:spPr>
          <a:xfrm>
            <a:off x="3809853" y="812781"/>
            <a:ext cx="8005679"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DM Sans" pitchFamily="34" charset="0"/>
                <a:ea typeface="DM Sans" pitchFamily="34" charset="-122"/>
                <a:cs typeface="DM Sans" pitchFamily="34" charset="-120"/>
              </a:rPr>
              <a:t>Safety stock from the interval</a:t>
            </a:r>
            <a:endParaRPr lang="en-US" sz="3200" dirty="0">
              <a:latin typeface="DM Sans" charset="0"/>
              <a:ea typeface="DM Sans" charset="0"/>
              <a:cs typeface="DM Sans" charset="0"/>
            </a:endParaRPr>
          </a:p>
        </p:txBody>
      </p:sp>
      <p:sp>
        <p:nvSpPr>
          <p:cNvPr id="14" name="Text 12"/>
          <p:cNvSpPr/>
          <p:nvPr/>
        </p:nvSpPr>
        <p:spPr>
          <a:xfrm>
            <a:off x="3809853" y="1927120"/>
            <a:ext cx="8005679" cy="8826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46505E"/>
                </a:solidFill>
                <a:latin typeface="DM Sans" pitchFamily="34" charset="0"/>
                <a:ea typeface="DM Sans" pitchFamily="34" charset="-122"/>
                <a:cs typeface="DM Sans" pitchFamily="34" charset="-120"/>
              </a:rPr>
              <a:t>1.</a:t>
            </a:r>
            <a:r>
              <a:rPr lang="en-US" sz="1500" dirty="0">
                <a:solidFill>
                  <a:srgbClr val="46505E"/>
                </a:solidFill>
                <a:latin typeface="DM Sans" pitchFamily="34" charset="0"/>
                <a:ea typeface="DM Sans" pitchFamily="34" charset="-122"/>
                <a:cs typeface="DM Sans" pitchFamily="34" charset="-120"/>
              </a:rPr>
              <a:t> The 80% prediction interval is the forecast ± 1.28 standard deviations (SD), so SD = (upper - lower) ÷ (2 × 1.28). Our ARIMA intervals are about 16 units wide, so SD is about 6 units a day.</a:t>
            </a:r>
            <a:endParaRPr lang="en-US" sz="1500" dirty="0">
              <a:latin typeface="DM Sans" charset="0"/>
              <a:ea typeface="DM Sans" charset="0"/>
              <a:cs typeface="DM Sans" charset="0"/>
            </a:endParaRPr>
          </a:p>
        </p:txBody>
      </p:sp>
      <p:sp>
        <p:nvSpPr>
          <p:cNvPr id="15" name="Text 13"/>
          <p:cNvSpPr/>
          <p:nvPr/>
        </p:nvSpPr>
        <p:spPr>
          <a:xfrm>
            <a:off x="3809853" y="2936726"/>
            <a:ext cx="8005679"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46505E"/>
                </a:solidFill>
                <a:latin typeface="DM Sans" pitchFamily="34" charset="0"/>
                <a:ea typeface="DM Sans" pitchFamily="34" charset="-122"/>
                <a:cs typeface="DM Sans" pitchFamily="34" charset="-120"/>
              </a:rPr>
              <a:t>2.</a:t>
            </a:r>
            <a:r>
              <a:rPr lang="en-US" sz="1500" dirty="0">
                <a:solidFill>
                  <a:srgbClr val="46505E"/>
                </a:solidFill>
                <a:latin typeface="DM Sans" pitchFamily="34" charset="0"/>
                <a:ea typeface="DM Sans" pitchFamily="34" charset="-122"/>
                <a:cs typeface="DM Sans" pitchFamily="34" charset="-120"/>
              </a:rPr>
              <a:t> Safety stock = 1.65 × SD × square root of the lead time (95% service level).</a:t>
            </a:r>
            <a:endParaRPr lang="en-US" sz="1500" dirty="0">
              <a:latin typeface="DM Sans" charset="0"/>
              <a:ea typeface="DM Sans" charset="0"/>
              <a:cs typeface="DM Sans" charset="0"/>
            </a:endParaRPr>
          </a:p>
        </p:txBody>
      </p:sp>
      <p:sp>
        <p:nvSpPr>
          <p:cNvPr id="16" name="Text 14"/>
          <p:cNvSpPr/>
          <p:nvPr/>
        </p:nvSpPr>
        <p:spPr>
          <a:xfrm>
            <a:off x="3809853" y="3374833"/>
            <a:ext cx="8005679" cy="59690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46505E"/>
                </a:solidFill>
                <a:latin typeface="DM Sans" pitchFamily="34" charset="0"/>
                <a:ea typeface="DM Sans" pitchFamily="34" charset="-122"/>
                <a:cs typeface="DM Sans" pitchFamily="34" charset="-120"/>
              </a:rPr>
              <a:t>3.</a:t>
            </a:r>
            <a:r>
              <a:rPr lang="en-US" sz="1500" dirty="0">
                <a:solidFill>
                  <a:srgbClr val="46505E"/>
                </a:solidFill>
                <a:latin typeface="DM Sans" pitchFamily="34" charset="0"/>
                <a:ea typeface="DM Sans" pitchFamily="34" charset="-122"/>
                <a:cs typeface="DM Sans" pitchFamily="34" charset="-120"/>
              </a:rPr>
              <a:t> In my notebook I take SD from the last 90 days of actual sales (about 5 units a day on average). It is the same idea and gives a similar size.</a:t>
            </a:r>
            <a:endParaRPr lang="en-US" sz="1500" dirty="0">
              <a:latin typeface="DM Sans" charset="0"/>
              <a:ea typeface="DM Sans" charset="0"/>
              <a:cs typeface="DM Sans" charset="0"/>
            </a:endParaRPr>
          </a:p>
        </p:txBody>
      </p:sp>
      <p:sp>
        <p:nvSpPr>
          <p:cNvPr id="17" name="Text 15"/>
          <p:cNvSpPr/>
          <p:nvPr/>
        </p:nvSpPr>
        <p:spPr>
          <a:xfrm>
            <a:off x="3809853" y="4613597"/>
            <a:ext cx="8005679"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766E"/>
                </a:solidFill>
                <a:latin typeface="DM Sans" pitchFamily="34" charset="0"/>
                <a:ea typeface="DM Sans" pitchFamily="34" charset="-122"/>
                <a:cs typeface="DM Sans" pitchFamily="34" charset="-120"/>
              </a:rPr>
              <a:t>Worked example: SKU_13_WH_2 (SD 5.4 units a day, lead time 11 days)</a:t>
            </a:r>
            <a:endParaRPr lang="en-US" sz="1400" dirty="0">
              <a:latin typeface="DM Sans" charset="0"/>
              <a:ea typeface="DM Sans" charset="0"/>
              <a:cs typeface="DM Sans" charset="0"/>
            </a:endParaRPr>
          </a:p>
        </p:txBody>
      </p:sp>
      <p:sp>
        <p:nvSpPr>
          <p:cNvPr id="18" name="Shape 16"/>
          <p:cNvSpPr/>
          <p:nvPr/>
        </p:nvSpPr>
        <p:spPr>
          <a:xfrm>
            <a:off x="3813028" y="4967194"/>
            <a:ext cx="2482865" cy="871626"/>
          </a:xfrm>
          <a:prstGeom prst="roundRect">
            <a:avLst>
              <a:gd name="adj" fmla="val 11292"/>
            </a:avLst>
          </a:prstGeom>
          <a:solidFill>
            <a:srgbClr val="DDEFEC"/>
          </a:solidFill>
          <a:ln w="6350">
            <a:solidFill>
              <a:srgbClr val="B7DAD4"/>
            </a:solidFill>
            <a:prstDash val="solid"/>
          </a:ln>
        </p:spPr>
      </p:sp>
      <p:sp>
        <p:nvSpPr>
          <p:cNvPr id="19" name="Text 17"/>
          <p:cNvSpPr/>
          <p:nvPr/>
        </p:nvSpPr>
        <p:spPr>
          <a:xfrm>
            <a:off x="3992342" y="5146514"/>
            <a:ext cx="2187964"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766E"/>
                </a:solidFill>
                <a:latin typeface="DM Sans" pitchFamily="34" charset="0"/>
                <a:ea typeface="DM Sans" pitchFamily="34" charset="-122"/>
                <a:cs typeface="DM Sans" pitchFamily="34" charset="-120"/>
              </a:rPr>
              <a:t>SAFETY STOCK</a:t>
            </a:r>
            <a:endParaRPr lang="en-US" sz="1200" dirty="0">
              <a:latin typeface="DM Sans" charset="0"/>
              <a:ea typeface="DM Sans" charset="0"/>
              <a:cs typeface="DM Sans" charset="0"/>
            </a:endParaRPr>
          </a:p>
        </p:txBody>
      </p:sp>
      <p:sp>
        <p:nvSpPr>
          <p:cNvPr id="20" name="Text 18"/>
          <p:cNvSpPr/>
          <p:nvPr/>
        </p:nvSpPr>
        <p:spPr>
          <a:xfrm>
            <a:off x="3992342" y="5410653"/>
            <a:ext cx="2187964"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04D"/>
                </a:solidFill>
                <a:latin typeface="DM Sans" pitchFamily="34" charset="0"/>
                <a:ea typeface="DM Sans" pitchFamily="34" charset="-122"/>
                <a:cs typeface="DM Sans" pitchFamily="34" charset="-120"/>
              </a:rPr>
              <a:t>1.65 × 5.4 × 3.3 ≈ 30 units</a:t>
            </a:r>
            <a:endParaRPr lang="en-US" sz="1400" dirty="0">
              <a:latin typeface="DM Sans" charset="0"/>
              <a:ea typeface="DM Sans" charset="0"/>
              <a:cs typeface="DM Sans" charset="0"/>
            </a:endParaRPr>
          </a:p>
        </p:txBody>
      </p:sp>
      <p:sp>
        <p:nvSpPr>
          <p:cNvPr id="21" name="Shape 19"/>
          <p:cNvSpPr/>
          <p:nvPr/>
        </p:nvSpPr>
        <p:spPr>
          <a:xfrm>
            <a:off x="6454599" y="4967194"/>
            <a:ext cx="2482939" cy="871626"/>
          </a:xfrm>
          <a:prstGeom prst="roundRect">
            <a:avLst>
              <a:gd name="adj" fmla="val 11292"/>
            </a:avLst>
          </a:prstGeom>
          <a:solidFill>
            <a:srgbClr val="DDEFEC"/>
          </a:solidFill>
          <a:ln w="6350">
            <a:solidFill>
              <a:srgbClr val="B7DAD4"/>
            </a:solidFill>
            <a:prstDash val="solid"/>
          </a:ln>
        </p:spPr>
      </p:sp>
      <p:sp>
        <p:nvSpPr>
          <p:cNvPr id="22" name="Text 20"/>
          <p:cNvSpPr/>
          <p:nvPr/>
        </p:nvSpPr>
        <p:spPr>
          <a:xfrm>
            <a:off x="6633914" y="5146514"/>
            <a:ext cx="2188040"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766E"/>
                </a:solidFill>
                <a:latin typeface="DM Sans" pitchFamily="34" charset="0"/>
                <a:ea typeface="DM Sans" pitchFamily="34" charset="-122"/>
                <a:cs typeface="DM Sans" pitchFamily="34" charset="-120"/>
              </a:rPr>
              <a:t>REORDER POINT</a:t>
            </a:r>
            <a:endParaRPr lang="en-US" sz="1200" dirty="0">
              <a:latin typeface="DM Sans" charset="0"/>
              <a:ea typeface="DM Sans" charset="0"/>
              <a:cs typeface="DM Sans" charset="0"/>
            </a:endParaRPr>
          </a:p>
        </p:txBody>
      </p:sp>
      <p:sp>
        <p:nvSpPr>
          <p:cNvPr id="23" name="Text 21"/>
          <p:cNvSpPr/>
          <p:nvPr/>
        </p:nvSpPr>
        <p:spPr>
          <a:xfrm>
            <a:off x="6633914" y="5410653"/>
            <a:ext cx="2188040"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04D"/>
                </a:solidFill>
                <a:latin typeface="DM Sans" pitchFamily="34" charset="0"/>
                <a:ea typeface="DM Sans" pitchFamily="34" charset="-122"/>
                <a:cs typeface="DM Sans" pitchFamily="34" charset="-120"/>
              </a:rPr>
              <a:t>13.5 × 11 + 30 ≈ 179 units</a:t>
            </a:r>
            <a:endParaRPr lang="en-US" sz="1400" dirty="0">
              <a:latin typeface="DM Sans" charset="0"/>
              <a:ea typeface="DM Sans" charset="0"/>
              <a:cs typeface="DM Sans" charset="0"/>
            </a:endParaRPr>
          </a:p>
        </p:txBody>
      </p:sp>
      <p:sp>
        <p:nvSpPr>
          <p:cNvPr id="24" name="Shape 22"/>
          <p:cNvSpPr/>
          <p:nvPr/>
        </p:nvSpPr>
        <p:spPr>
          <a:xfrm>
            <a:off x="9096244" y="4967194"/>
            <a:ext cx="2482939" cy="871626"/>
          </a:xfrm>
          <a:prstGeom prst="roundRect">
            <a:avLst>
              <a:gd name="adj" fmla="val 11292"/>
            </a:avLst>
          </a:prstGeom>
          <a:solidFill>
            <a:srgbClr val="DDEFEC"/>
          </a:solidFill>
          <a:ln w="6350">
            <a:solidFill>
              <a:srgbClr val="B7DAD4"/>
            </a:solidFill>
            <a:prstDash val="solid"/>
          </a:ln>
        </p:spPr>
      </p:sp>
      <p:sp>
        <p:nvSpPr>
          <p:cNvPr id="25" name="Text 23"/>
          <p:cNvSpPr/>
          <p:nvPr/>
        </p:nvSpPr>
        <p:spPr>
          <a:xfrm>
            <a:off x="9275558" y="5146514"/>
            <a:ext cx="2188040"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766E"/>
                </a:solidFill>
                <a:latin typeface="DM Sans" pitchFamily="34" charset="0"/>
                <a:ea typeface="DM Sans" pitchFamily="34" charset="-122"/>
                <a:cs typeface="DM Sans" pitchFamily="34" charset="-120"/>
              </a:rPr>
              <a:t>STOCK ON 30 NOV</a:t>
            </a:r>
            <a:endParaRPr lang="en-US" sz="1200" dirty="0">
              <a:latin typeface="DM Sans" charset="0"/>
              <a:ea typeface="DM Sans" charset="0"/>
              <a:cs typeface="DM Sans" charset="0"/>
            </a:endParaRPr>
          </a:p>
        </p:txBody>
      </p:sp>
      <p:sp>
        <p:nvSpPr>
          <p:cNvPr id="26" name="Text 24"/>
          <p:cNvSpPr/>
          <p:nvPr/>
        </p:nvSpPr>
        <p:spPr>
          <a:xfrm>
            <a:off x="9275558" y="5410653"/>
            <a:ext cx="2188040"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04D"/>
                </a:solidFill>
                <a:latin typeface="DM Sans" pitchFamily="34" charset="0"/>
                <a:ea typeface="DM Sans" pitchFamily="34" charset="-122"/>
                <a:cs typeface="DM Sans" pitchFamily="34" charset="-120"/>
              </a:rPr>
              <a:t>399 units, so GREEN</a:t>
            </a:r>
            <a:endParaRPr lang="en-US" sz="1400" dirty="0">
              <a:latin typeface="DM Sans" charset="0"/>
              <a:ea typeface="DM Sans" charset="0"/>
              <a:cs typeface="DM Sans" charset="0"/>
            </a:endParaRPr>
          </a:p>
        </p:txBody>
      </p:sp>
      <p:sp>
        <p:nvSpPr>
          <p:cNvPr id="27" name="Text 25"/>
          <p:cNvSpPr/>
          <p:nvPr/>
        </p:nvSpPr>
        <p:spPr>
          <a:xfrm>
            <a:off x="3809927" y="6238211"/>
            <a:ext cx="80055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10</a:t>
            </a:r>
            <a:endParaRPr lang="en-US" sz="1200" dirty="0">
              <a:latin typeface="DM Sans" charset="0"/>
              <a:ea typeface="DM Sans" charset="0"/>
              <a:cs typeface="DM San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Shape 0"/>
          <p:cNvSpPr/>
          <p:nvPr/>
        </p:nvSpPr>
        <p:spPr>
          <a:xfrm>
            <a:off x="0" y="0"/>
            <a:ext cx="3301927" cy="6857927"/>
          </a:xfrm>
          <a:prstGeom prst="rect">
            <a:avLst/>
          </a:prstGeom>
          <a:solidFill>
            <a:srgbClr val="1B2A41"/>
          </a:solidFill>
          <a:ln/>
        </p:spPr>
      </p:sp>
      <p:sp>
        <p:nvSpPr>
          <p:cNvPr id="3" name="Text 1"/>
          <p:cNvSpPr/>
          <p:nvPr/>
        </p:nvSpPr>
        <p:spPr>
          <a:xfrm>
            <a:off x="304785" y="812788"/>
            <a:ext cx="2773127"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EAD4"/>
                </a:solidFill>
                <a:latin typeface="DM Sans" pitchFamily="34" charset="0"/>
                <a:ea typeface="DM Sans" pitchFamily="34" charset="-122"/>
                <a:cs typeface="DM Sans" pitchFamily="34" charset="-120"/>
              </a:rPr>
              <a:t>TOPIC</a:t>
            </a:r>
            <a:endParaRPr lang="en-US" sz="1200" dirty="0">
              <a:latin typeface="DM Sans" charset="0"/>
              <a:ea typeface="DM Sans" charset="0"/>
              <a:cs typeface="DM Sans" charset="0"/>
            </a:endParaRPr>
          </a:p>
        </p:txBody>
      </p:sp>
      <p:sp>
        <p:nvSpPr>
          <p:cNvPr id="4" name="Text 2"/>
          <p:cNvSpPr/>
          <p:nvPr/>
        </p:nvSpPr>
        <p:spPr>
          <a:xfrm>
            <a:off x="304785" y="1153071"/>
            <a:ext cx="2773127" cy="609541"/>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6F5F0"/>
                </a:solidFill>
                <a:latin typeface="DM Sans" pitchFamily="34" charset="0"/>
                <a:ea typeface="DM Sans" pitchFamily="34" charset="-122"/>
                <a:cs typeface="DM Sans" pitchFamily="34" charset="-120"/>
              </a:rPr>
              <a:t>Inventory optimization</a:t>
            </a:r>
            <a:endParaRPr lang="en-US" sz="2000" dirty="0">
              <a:latin typeface="DM Sans" charset="0"/>
              <a:ea typeface="DM Sans" charset="0"/>
              <a:cs typeface="DM Sans" charset="0"/>
            </a:endParaRPr>
          </a:p>
        </p:txBody>
      </p:sp>
      <p:sp>
        <p:nvSpPr>
          <p:cNvPr id="5" name="Shape 3"/>
          <p:cNvSpPr/>
          <p:nvPr/>
        </p:nvSpPr>
        <p:spPr>
          <a:xfrm>
            <a:off x="311135" y="1864134"/>
            <a:ext cx="0" cy="2539192"/>
          </a:xfrm>
          <a:prstGeom prst="line">
            <a:avLst/>
          </a:prstGeom>
          <a:noFill/>
          <a:ln w="12700">
            <a:solidFill>
              <a:srgbClr val="3B4B63"/>
            </a:solidFill>
            <a:prstDash val="solid"/>
          </a:ln>
        </p:spPr>
      </p:sp>
      <p:sp>
        <p:nvSpPr>
          <p:cNvPr id="6" name="Text 4"/>
          <p:cNvSpPr/>
          <p:nvPr/>
        </p:nvSpPr>
        <p:spPr>
          <a:xfrm>
            <a:off x="466549" y="1864134"/>
            <a:ext cx="26065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5F0"/>
                </a:solidFill>
                <a:latin typeface="DM Sans" pitchFamily="34" charset="0"/>
                <a:ea typeface="DM Sans" pitchFamily="34" charset="-122"/>
                <a:cs typeface="DM Sans" pitchFamily="34" charset="-120"/>
              </a:rPr>
              <a:t>Statistical analysis</a:t>
            </a:r>
            <a:endParaRPr lang="en-US" sz="1600" dirty="0">
              <a:latin typeface="DM Sans" charset="0"/>
              <a:ea typeface="DM Sans" charset="0"/>
              <a:cs typeface="DM Sans" charset="0"/>
            </a:endParaRPr>
          </a:p>
        </p:txBody>
      </p:sp>
      <p:sp>
        <p:nvSpPr>
          <p:cNvPr id="7" name="Shape 5"/>
          <p:cNvSpPr/>
          <p:nvPr/>
        </p:nvSpPr>
        <p:spPr>
          <a:xfrm>
            <a:off x="472899" y="2224776"/>
            <a:ext cx="0" cy="1304984"/>
          </a:xfrm>
          <a:prstGeom prst="line">
            <a:avLst/>
          </a:prstGeom>
          <a:noFill/>
          <a:ln w="12700">
            <a:solidFill>
              <a:srgbClr val="3B4B63"/>
            </a:solidFill>
            <a:prstDash val="solid"/>
          </a:ln>
        </p:spPr>
      </p:sp>
      <p:sp>
        <p:nvSpPr>
          <p:cNvPr id="8" name="Text 6"/>
          <p:cNvSpPr/>
          <p:nvPr/>
        </p:nvSpPr>
        <p:spPr>
          <a:xfrm>
            <a:off x="704483" y="2300976"/>
            <a:ext cx="2256791" cy="274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Safety stock calculation</a:t>
            </a:r>
            <a:endParaRPr lang="en-US" sz="1400" dirty="0">
              <a:latin typeface="DM Sans" charset="0"/>
              <a:ea typeface="DM Sans" charset="0"/>
              <a:cs typeface="DM Sans" charset="0"/>
            </a:endParaRPr>
          </a:p>
        </p:txBody>
      </p:sp>
      <p:sp>
        <p:nvSpPr>
          <p:cNvPr id="9" name="Text 7"/>
          <p:cNvSpPr/>
          <p:nvPr/>
        </p:nvSpPr>
        <p:spPr>
          <a:xfrm>
            <a:off x="704483" y="2752899"/>
            <a:ext cx="2256791" cy="274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Reorder point</a:t>
            </a:r>
            <a:endParaRPr lang="en-US" sz="1400" dirty="0">
              <a:latin typeface="DM Sans" charset="0"/>
              <a:ea typeface="DM Sans" charset="0"/>
              <a:cs typeface="DM Sans" charset="0"/>
            </a:endParaRPr>
          </a:p>
        </p:txBody>
      </p:sp>
      <p:sp>
        <p:nvSpPr>
          <p:cNvPr id="10" name="Text 8"/>
          <p:cNvSpPr/>
          <p:nvPr/>
        </p:nvSpPr>
        <p:spPr>
          <a:xfrm>
            <a:off x="704483" y="3204821"/>
            <a:ext cx="2256791" cy="274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2DE"/>
                </a:solidFill>
                <a:latin typeface="DM Sans" pitchFamily="34" charset="0"/>
                <a:ea typeface="DM Sans" pitchFamily="34" charset="-122"/>
                <a:cs typeface="DM Sans" pitchFamily="34" charset="-120"/>
              </a:rPr>
              <a:t>Days of stock</a:t>
            </a:r>
            <a:endParaRPr lang="en-US" sz="1400" dirty="0">
              <a:latin typeface="DM Sans" charset="0"/>
              <a:ea typeface="DM Sans" charset="0"/>
              <a:cs typeface="DM Sans" charset="0"/>
            </a:endParaRPr>
          </a:p>
        </p:txBody>
      </p:sp>
      <p:sp>
        <p:nvSpPr>
          <p:cNvPr id="11" name="Text 9"/>
          <p:cNvSpPr/>
          <p:nvPr/>
        </p:nvSpPr>
        <p:spPr>
          <a:xfrm>
            <a:off x="466549" y="3605901"/>
            <a:ext cx="260651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5F0"/>
                </a:solidFill>
                <a:latin typeface="DM Sans" pitchFamily="34" charset="0"/>
                <a:ea typeface="DM Sans" pitchFamily="34" charset="-122"/>
                <a:cs typeface="DM Sans" pitchFamily="34" charset="-120"/>
              </a:rPr>
              <a:t>Risk classification</a:t>
            </a:r>
            <a:endParaRPr lang="en-US" sz="1600" dirty="0">
              <a:latin typeface="DM Sans" charset="0"/>
              <a:ea typeface="DM Sans" charset="0"/>
              <a:cs typeface="DM Sans" charset="0"/>
            </a:endParaRPr>
          </a:p>
        </p:txBody>
      </p:sp>
      <p:sp>
        <p:nvSpPr>
          <p:cNvPr id="12" name="Text 10"/>
          <p:cNvSpPr/>
          <p:nvPr/>
        </p:nvSpPr>
        <p:spPr>
          <a:xfrm>
            <a:off x="466549" y="3966542"/>
            <a:ext cx="2530593" cy="436783"/>
          </a:xfrm>
          <a:prstGeom prst="roundRect">
            <a:avLst>
              <a:gd name="adj" fmla="val 17446"/>
            </a:avLst>
          </a:prstGeom>
          <a:solidFill>
            <a:srgbClr val="0F766E"/>
          </a:solidFill>
          <a:ln/>
        </p:spPr>
        <p:txBody>
          <a:bodyPr wrap="square" lIns="79282" tIns="53882" rIns="9460" bIns="28482" rtlCol="0" anchor="t">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Budget plan (planned)</a:t>
            </a:r>
            <a:endParaRPr lang="en-US" sz="1600" dirty="0">
              <a:latin typeface="DM Sans" charset="0"/>
              <a:ea typeface="DM Sans" charset="0"/>
              <a:cs typeface="DM Sans" charset="0"/>
            </a:endParaRPr>
          </a:p>
        </p:txBody>
      </p:sp>
      <p:sp>
        <p:nvSpPr>
          <p:cNvPr id="13" name="Text 11"/>
          <p:cNvSpPr/>
          <p:nvPr>
            <p:ph type="title"/>
          </p:nvPr>
        </p:nvSpPr>
        <p:spPr>
          <a:xfrm>
            <a:off x="3809853" y="812788"/>
            <a:ext cx="8005679"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DM Sans" pitchFamily="34" charset="0"/>
                <a:ea typeface="DM Sans" pitchFamily="34" charset="-122"/>
                <a:cs typeface="DM Sans" pitchFamily="34" charset="-120"/>
              </a:rPr>
              <a:t>Budget plan: fractional knapsack</a:t>
            </a:r>
            <a:endParaRPr lang="en-US" sz="3200" dirty="0">
              <a:latin typeface="DM Sans" charset="0"/>
              <a:ea typeface="DM Sans" charset="0"/>
              <a:cs typeface="DM Sans" charset="0"/>
            </a:endParaRPr>
          </a:p>
        </p:txBody>
      </p:sp>
      <p:sp>
        <p:nvSpPr>
          <p:cNvPr id="14" name="Text 12"/>
          <p:cNvSpPr/>
          <p:nvPr/>
        </p:nvSpPr>
        <p:spPr>
          <a:xfrm>
            <a:off x="3816203" y="1418561"/>
            <a:ext cx="7759804" cy="371754"/>
          </a:xfrm>
          <a:prstGeom prst="roundRect">
            <a:avLst>
              <a:gd name="adj" fmla="val 50000"/>
            </a:avLst>
          </a:prstGeom>
          <a:solidFill>
            <a:srgbClr val="E6E8EC"/>
          </a:solidFill>
          <a:ln w="12700">
            <a:solidFill>
              <a:srgbClr val="6B7480"/>
            </a:solidFill>
            <a:prstDash val="dash"/>
          </a:ln>
        </p:spPr>
        <p:txBody>
          <a:bodyPr wrap="square" lIns="126416" tIns="24816" rIns="0" bIns="0" rtlCol="0" anchor="t">
            <a:normAutofit/>
          </a:bodyPr>
          <a:lstStyle/>
          <a:p>
            <a:pPr algn="l" indent="0" marL="0">
              <a:lnSpc>
                <a:spcPts val="1680"/>
              </a:lnSpc>
              <a:buNone/>
            </a:pPr>
            <a:r>
              <a:rPr lang="en-US" sz="1200" b="1" spc="100" kern="0" dirty="0">
                <a:solidFill>
                  <a:srgbClr val="1B2A41"/>
                </a:solidFill>
                <a:latin typeface="DM Sans" pitchFamily="34" charset="0"/>
                <a:ea typeface="DM Sans" pitchFamily="34" charset="-122"/>
                <a:cs typeface="DM Sans" pitchFamily="34" charset="-120"/>
              </a:rPr>
              <a:t>PLANNED, NOT EXECUTED</a:t>
            </a:r>
            <a:endParaRPr lang="en-US" sz="1200" dirty="0">
              <a:latin typeface="DM Sans" charset="0"/>
              <a:ea typeface="DM Sans" charset="0"/>
              <a:cs typeface="DM Sans" charset="0"/>
            </a:endParaRPr>
          </a:p>
        </p:txBody>
      </p:sp>
      <p:sp>
        <p:nvSpPr>
          <p:cNvPr id="15" name="Text 13"/>
          <p:cNvSpPr/>
          <p:nvPr/>
        </p:nvSpPr>
        <p:spPr>
          <a:xfrm>
            <a:off x="3809853" y="2730209"/>
            <a:ext cx="3845875" cy="55868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DM Sans" pitchFamily="34" charset="0"/>
                <a:ea typeface="DM Sans" pitchFamily="34" charset="-122"/>
                <a:cs typeface="DM Sans" pitchFamily="34" charset="-120"/>
              </a:rPr>
              <a:t>With a limited budget, which products do I restock first?</a:t>
            </a:r>
            <a:endParaRPr lang="en-US" sz="1500" dirty="0">
              <a:latin typeface="DM Sans" charset="0"/>
              <a:ea typeface="DM Sans" charset="0"/>
              <a:cs typeface="DM Sans" charset="0"/>
            </a:endParaRPr>
          </a:p>
        </p:txBody>
      </p:sp>
      <p:sp>
        <p:nvSpPr>
          <p:cNvPr id="16" name="Text 14"/>
          <p:cNvSpPr/>
          <p:nvPr/>
        </p:nvSpPr>
        <p:spPr>
          <a:xfrm>
            <a:off x="3809853" y="3365060"/>
            <a:ext cx="3845875" cy="5231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6505E"/>
                </a:solidFill>
                <a:latin typeface="DM Sans" pitchFamily="34" charset="0"/>
                <a:ea typeface="DM Sans" pitchFamily="34" charset="-122"/>
                <a:cs typeface="DM Sans" pitchFamily="34" charset="-120"/>
              </a:rPr>
              <a:t>1.</a:t>
            </a:r>
            <a:r>
              <a:rPr lang="en-US" sz="1400" dirty="0">
                <a:solidFill>
                  <a:srgbClr val="46505E"/>
                </a:solidFill>
                <a:latin typeface="DM Sans" pitchFamily="34" charset="0"/>
                <a:ea typeface="DM Sans" pitchFamily="34" charset="-122"/>
                <a:cs typeface="DM Sans" pitchFamily="34" charset="-120"/>
              </a:rPr>
              <a:t> Units needed = max(0, 30-day forecast - current stock).</a:t>
            </a:r>
            <a:endParaRPr lang="en-US" sz="1400" dirty="0">
              <a:latin typeface="DM Sans" charset="0"/>
              <a:ea typeface="DM Sans" charset="0"/>
              <a:cs typeface="DM Sans" charset="0"/>
            </a:endParaRPr>
          </a:p>
        </p:txBody>
      </p:sp>
      <p:sp>
        <p:nvSpPr>
          <p:cNvPr id="17" name="Text 15"/>
          <p:cNvSpPr/>
          <p:nvPr/>
        </p:nvSpPr>
        <p:spPr>
          <a:xfrm>
            <a:off x="3809853" y="3964341"/>
            <a:ext cx="3845875" cy="5231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6505E"/>
                </a:solidFill>
                <a:latin typeface="DM Sans" pitchFamily="34" charset="0"/>
                <a:ea typeface="DM Sans" pitchFamily="34" charset="-122"/>
                <a:cs typeface="DM Sans" pitchFamily="34" charset="-120"/>
              </a:rPr>
              <a:t>2.</a:t>
            </a:r>
            <a:r>
              <a:rPr lang="en-US" sz="1400" dirty="0">
                <a:solidFill>
                  <a:srgbClr val="46505E"/>
                </a:solidFill>
                <a:latin typeface="DM Sans" pitchFamily="34" charset="0"/>
                <a:ea typeface="DM Sans" pitchFamily="34" charset="-122"/>
                <a:cs typeface="DM Sans" pitchFamily="34" charset="-120"/>
              </a:rPr>
              <a:t> Cost = units × unit cost. Profit = units × (price - unit cost).</a:t>
            </a:r>
            <a:endParaRPr lang="en-US" sz="1400" dirty="0">
              <a:latin typeface="DM Sans" charset="0"/>
              <a:ea typeface="DM Sans" charset="0"/>
              <a:cs typeface="DM Sans" charset="0"/>
            </a:endParaRPr>
          </a:p>
        </p:txBody>
      </p:sp>
      <p:sp>
        <p:nvSpPr>
          <p:cNvPr id="18" name="Text 16"/>
          <p:cNvSpPr/>
          <p:nvPr/>
        </p:nvSpPr>
        <p:spPr>
          <a:xfrm>
            <a:off x="3809853" y="4563622"/>
            <a:ext cx="3845875" cy="5231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6505E"/>
                </a:solidFill>
                <a:latin typeface="DM Sans" pitchFamily="34" charset="0"/>
                <a:ea typeface="DM Sans" pitchFamily="34" charset="-122"/>
                <a:cs typeface="DM Sans" pitchFamily="34" charset="-120"/>
              </a:rPr>
              <a:t>3.</a:t>
            </a:r>
            <a:r>
              <a:rPr lang="en-US" sz="1400" dirty="0">
                <a:solidFill>
                  <a:srgbClr val="46505E"/>
                </a:solidFill>
                <a:latin typeface="DM Sans" pitchFamily="34" charset="0"/>
                <a:ea typeface="DM Sans" pitchFamily="34" charset="-122"/>
                <a:cs typeface="DM Sans" pitchFamily="34" charset="-120"/>
              </a:rPr>
              <a:t> Rank by profit ÷ cost, the profit per unit of money spent.</a:t>
            </a:r>
            <a:endParaRPr lang="en-US" sz="1400" dirty="0">
              <a:latin typeface="DM Sans" charset="0"/>
              <a:ea typeface="DM Sans" charset="0"/>
              <a:cs typeface="DM Sans" charset="0"/>
            </a:endParaRPr>
          </a:p>
        </p:txBody>
      </p:sp>
      <p:sp>
        <p:nvSpPr>
          <p:cNvPr id="19" name="Text 17"/>
          <p:cNvSpPr/>
          <p:nvPr/>
        </p:nvSpPr>
        <p:spPr>
          <a:xfrm>
            <a:off x="3809853" y="5162903"/>
            <a:ext cx="3845875" cy="5231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6505E"/>
                </a:solidFill>
                <a:latin typeface="DM Sans" pitchFamily="34" charset="0"/>
                <a:ea typeface="DM Sans" pitchFamily="34" charset="-122"/>
                <a:cs typeface="DM Sans" pitchFamily="34" charset="-120"/>
              </a:rPr>
              <a:t>4.</a:t>
            </a:r>
            <a:r>
              <a:rPr lang="en-US" sz="1400" dirty="0">
                <a:solidFill>
                  <a:srgbClr val="46505E"/>
                </a:solidFill>
                <a:latin typeface="DM Sans" pitchFamily="34" charset="0"/>
                <a:ea typeface="DM Sans" pitchFamily="34" charset="-122"/>
                <a:cs typeface="DM Sans" pitchFamily="34" charset="-120"/>
              </a:rPr>
              <a:t> Buy the best first, in full, until the budget runs out. Buy a fraction of the last one.</a:t>
            </a:r>
            <a:endParaRPr lang="en-US" sz="1400" dirty="0">
              <a:latin typeface="DM Sans" charset="0"/>
              <a:ea typeface="DM Sans" charset="0"/>
              <a:cs typeface="DM Sans" charset="0"/>
            </a:endParaRPr>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857906" y="2739616"/>
          <a:ext cx="3724452" cy="1779323"/>
        </p:xfrm>
        <a:graphic>
          <a:graphicData uri="http://schemas.openxmlformats.org/drawingml/2006/table">
            <a:tbl>
              <a:tblPr/>
              <a:tblGrid>
                <a:gridCol w="521423"/>
                <a:gridCol w="819379"/>
                <a:gridCol w="744890"/>
                <a:gridCol w="670401"/>
                <a:gridCol w="968357"/>
              </a:tblGrid>
              <a:tr h="631472">
                <a:tc>
                  <a:txBody>
                    <a:bodyPr/>
                    <a:lstStyle/>
                    <a:p>
                      <a:pPr indent="0" marL="0">
                        <a:lnSpc>
                          <a:spcPts val="1960"/>
                        </a:lnSpc>
                        <a:buNone/>
                      </a:pPr>
                      <a:r>
                        <a:rPr lang="en-US" sz="1400" b="1" dirty="0">
                          <a:solidFill>
                            <a:srgbClr val="1B2A41"/>
                          </a:solidFill>
                          <a:latin typeface="DM Sans" pitchFamily="34" charset="0"/>
                          <a:ea typeface="DM Sans" pitchFamily="34" charset="-122"/>
                          <a:cs typeface="DM Sans" pitchFamily="34" charset="-120"/>
                        </a:rPr>
                        <a:t>Item</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A41"/>
                          </a:solidFill>
                          <a:latin typeface="DM Sans" pitchFamily="34" charset="0"/>
                          <a:ea typeface="DM Sans" pitchFamily="34" charset="-122"/>
                          <a:cs typeface="DM Sans" pitchFamily="34" charset="-120"/>
                        </a:rPr>
                        <a:t>Cost</a:t>
                      </a:r>
                      <a:endParaRPr lang="en-US" sz="1400" dirty="0">
                        <a:latin typeface="DM Sans" charset="0"/>
                        <a:ea typeface="DM Sans" charset="0"/>
                        <a:cs typeface="DM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A41"/>
                          </a:solidFill>
                          <a:latin typeface="DM Sans" pitchFamily="34" charset="0"/>
                          <a:ea typeface="DM Sans" pitchFamily="34" charset="-122"/>
                          <a:cs typeface="DM Sans" pitchFamily="34" charset="-120"/>
                        </a:rPr>
                        <a:t>Profit</a:t>
                      </a:r>
                      <a:endParaRPr lang="en-US" sz="1400" dirty="0">
                        <a:latin typeface="DM Sans" charset="0"/>
                        <a:ea typeface="DM Sans" charset="0"/>
                        <a:cs typeface="DM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A41"/>
                          </a:solidFill>
                          <a:latin typeface="DM Sans" pitchFamily="34" charset="0"/>
                          <a:ea typeface="DM Sans" pitchFamily="34" charset="-122"/>
                          <a:cs typeface="DM Sans" pitchFamily="34" charset="-120"/>
                        </a:rPr>
                        <a:t>Ratio</a:t>
                      </a:r>
                      <a:endParaRPr lang="en-US" sz="1400" dirty="0">
                        <a:latin typeface="DM Sans" charset="0"/>
                        <a:ea typeface="DM Sans" charset="0"/>
                        <a:cs typeface="DM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A41"/>
                          </a:solidFill>
                          <a:latin typeface="DM Sans" pitchFamily="34" charset="0"/>
                          <a:ea typeface="DM Sans" pitchFamily="34" charset="-122"/>
                          <a:cs typeface="DM Sans" pitchFamily="34" charset="-120"/>
                        </a:rPr>
                        <a:t>Bought</a:t>
                      </a:r>
                      <a:endParaRPr lang="en-US" sz="1400" dirty="0">
                        <a:latin typeface="DM Sans" charset="0"/>
                        <a:ea typeface="DM Sans" charset="0"/>
                        <a:cs typeface="DM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2617">
                <a:tc>
                  <a:txBody>
                    <a:bodyPr/>
                    <a:lstStyle/>
                    <a:p>
                      <a:pPr indent="0" marL="0">
                        <a:lnSpc>
                          <a:spcPts val="1960"/>
                        </a:lnSpc>
                        <a:buNone/>
                      </a:pPr>
                      <a:r>
                        <a:rPr lang="en-US" sz="1400" dirty="0">
                          <a:solidFill>
                            <a:srgbClr val="1B2A41"/>
                          </a:solidFill>
                          <a:latin typeface="DM Sans" pitchFamily="34" charset="0"/>
                          <a:ea typeface="DM Sans" pitchFamily="34" charset="-122"/>
                          <a:cs typeface="DM Sans" pitchFamily="34" charset="-120"/>
                        </a:rPr>
                        <a:t>A</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1,000</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500</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0.50</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all</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2617">
                <a:tc>
                  <a:txBody>
                    <a:bodyPr/>
                    <a:lstStyle/>
                    <a:p>
                      <a:pPr indent="0" marL="0">
                        <a:lnSpc>
                          <a:spcPts val="1960"/>
                        </a:lnSpc>
                        <a:buNone/>
                      </a:pPr>
                      <a:r>
                        <a:rPr lang="en-US" sz="1400" dirty="0">
                          <a:solidFill>
                            <a:srgbClr val="1B2A41"/>
                          </a:solidFill>
                          <a:latin typeface="DM Sans" pitchFamily="34" charset="0"/>
                          <a:ea typeface="DM Sans" pitchFamily="34" charset="-122"/>
                          <a:cs typeface="DM Sans" pitchFamily="34" charset="-120"/>
                        </a:rPr>
                        <a:t>B</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2,000</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800</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0.40</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all</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2617">
                <a:tc>
                  <a:txBody>
                    <a:bodyPr/>
                    <a:lstStyle/>
                    <a:p>
                      <a:pPr indent="0" marL="0">
                        <a:lnSpc>
                          <a:spcPts val="1960"/>
                        </a:lnSpc>
                        <a:buNone/>
                      </a:pPr>
                      <a:r>
                        <a:rPr lang="en-US" sz="1400" dirty="0">
                          <a:solidFill>
                            <a:srgbClr val="1B2A41"/>
                          </a:solidFill>
                          <a:latin typeface="DM Sans" pitchFamily="34" charset="0"/>
                          <a:ea typeface="DM Sans" pitchFamily="34" charset="-122"/>
                          <a:cs typeface="DM Sans" pitchFamily="34" charset="-120"/>
                        </a:rPr>
                        <a:t>C</a:t>
                      </a:r>
                      <a:endParaRPr lang="en-US" sz="1400" dirty="0">
                        <a:latin typeface="DM Sans" charset="0"/>
                        <a:ea typeface="DM Sans" charset="0"/>
                        <a:cs typeface="DM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1BFBC"/>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1BFBC"/>
                      </a:solidFill>
                      <a:prstDash val="solid"/>
                      <a:round/>
                      <a:headEnd type="none" w="med" len="med"/>
                      <a:tailEnd type="none" w="med" len="med"/>
                    </a:lnB>
                    <a:solidFill>
                      <a:srgbClr val="DDEFEC"/>
                    </a:solidFill>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1,500</a:t>
                      </a:r>
                      <a:endParaRPr lang="en-US" sz="1400" dirty="0">
                        <a:latin typeface="DM Sans" charset="0"/>
                        <a:ea typeface="DM Sans" charset="0"/>
                        <a:cs typeface="DM Sans" charset="0"/>
                      </a:endParaRPr>
                    </a:p>
                  </a:txBody>
                  <a:tcPr marL="62230" marR="62230" marT="62230" marB="62230" anchor="t">
                    <a:lnL w="12700" cap="flat" cmpd="sng" algn="ctr">
                      <a:solidFill>
                        <a:srgbClr val="B1BFBC"/>
                      </a:solidFill>
                      <a:prstDash val="solid"/>
                      <a:round/>
                      <a:headEnd type="none" w="med" len="med"/>
                      <a:tailEnd type="none" w="med" len="med"/>
                    </a:lnL>
                    <a:lnR w="12700" cap="flat" cmpd="sng" algn="ctr">
                      <a:solidFill>
                        <a:srgbClr val="B1BFBC"/>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1BFBC"/>
                      </a:solidFill>
                      <a:prstDash val="solid"/>
                      <a:round/>
                      <a:headEnd type="none" w="med" len="med"/>
                      <a:tailEnd type="none" w="med" len="med"/>
                    </a:lnB>
                    <a:solidFill>
                      <a:srgbClr val="DDEFEC"/>
                    </a:solidFill>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450</a:t>
                      </a:r>
                      <a:endParaRPr lang="en-US" sz="1400" dirty="0">
                        <a:latin typeface="DM Sans" charset="0"/>
                        <a:ea typeface="DM Sans" charset="0"/>
                        <a:cs typeface="DM Sans" charset="0"/>
                      </a:endParaRPr>
                    </a:p>
                  </a:txBody>
                  <a:tcPr marL="62230" marR="62230" marT="62230" marB="62230" anchor="t">
                    <a:lnL w="12700" cap="flat" cmpd="sng" algn="ctr">
                      <a:solidFill>
                        <a:srgbClr val="B1BFBC"/>
                      </a:solidFill>
                      <a:prstDash val="solid"/>
                      <a:round/>
                      <a:headEnd type="none" w="med" len="med"/>
                      <a:tailEnd type="none" w="med" len="med"/>
                    </a:lnL>
                    <a:lnR w="12700" cap="flat" cmpd="sng" algn="ctr">
                      <a:solidFill>
                        <a:srgbClr val="B1BFBC"/>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1BFBC"/>
                      </a:solidFill>
                      <a:prstDash val="solid"/>
                      <a:round/>
                      <a:headEnd type="none" w="med" len="med"/>
                      <a:tailEnd type="none" w="med" len="med"/>
                    </a:lnB>
                    <a:solidFill>
                      <a:srgbClr val="DDEFEC"/>
                    </a:solidFill>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0.30</a:t>
                      </a:r>
                      <a:endParaRPr lang="en-US" sz="1400" dirty="0">
                        <a:latin typeface="DM Sans" charset="0"/>
                        <a:ea typeface="DM Sans" charset="0"/>
                        <a:cs typeface="DM Sans" charset="0"/>
                      </a:endParaRPr>
                    </a:p>
                  </a:txBody>
                  <a:tcPr marL="62230" marR="62230" marT="62230" marB="62230" anchor="t">
                    <a:lnL w="12700" cap="flat" cmpd="sng" algn="ctr">
                      <a:solidFill>
                        <a:srgbClr val="B1BFBC"/>
                      </a:solidFill>
                      <a:prstDash val="solid"/>
                      <a:round/>
                      <a:headEnd type="none" w="med" len="med"/>
                      <a:tailEnd type="none" w="med" len="med"/>
                    </a:lnL>
                    <a:lnR w="12700" cap="flat" cmpd="sng" algn="ctr">
                      <a:solidFill>
                        <a:srgbClr val="B1BFBC"/>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1BFBC"/>
                      </a:solidFill>
                      <a:prstDash val="solid"/>
                      <a:round/>
                      <a:headEnd type="none" w="med" len="med"/>
                      <a:tailEnd type="none" w="med" len="med"/>
                    </a:lnB>
                    <a:solidFill>
                      <a:srgbClr val="DDEFEC"/>
                    </a:solidFill>
                  </a:tcPr>
                </a:tc>
                <a:tc>
                  <a:txBody>
                    <a:bodyPr/>
                    <a:lstStyle/>
                    <a:p>
                      <a:pPr algn="r" indent="0" marL="0">
                        <a:lnSpc>
                          <a:spcPts val="1960"/>
                        </a:lnSpc>
                        <a:buNone/>
                      </a:pPr>
                      <a:r>
                        <a:rPr lang="en-US" sz="1400" dirty="0">
                          <a:solidFill>
                            <a:srgbClr val="1B2A41"/>
                          </a:solidFill>
                          <a:latin typeface="DM Sans" pitchFamily="34" charset="0"/>
                          <a:ea typeface="DM Sans" pitchFamily="34" charset="-122"/>
                          <a:cs typeface="DM Sans" pitchFamily="34" charset="-120"/>
                        </a:rPr>
                        <a:t>one third</a:t>
                      </a:r>
                      <a:endParaRPr lang="en-US" sz="1400" dirty="0">
                        <a:latin typeface="DM Sans" charset="0"/>
                        <a:ea typeface="DM Sans" charset="0"/>
                        <a:cs typeface="DM Sans" charset="0"/>
                      </a:endParaRPr>
                    </a:p>
                  </a:txBody>
                  <a:tcPr marL="62230" marR="62230" marT="62230" marB="62230" anchor="t">
                    <a:lnL w="12700" cap="flat" cmpd="sng" algn="ctr">
                      <a:solidFill>
                        <a:srgbClr val="B1BFBC"/>
                      </a:solidFill>
                      <a:prstDash val="solid"/>
                      <a:round/>
                      <a:headEnd type="none" w="med" len="med"/>
                      <a:tailEnd type="none" w="med" len="med"/>
                    </a:lnL>
                    <a:lnR w="12700" cap="flat" cmpd="sng" algn="ctr">
                      <a:solidFill>
                        <a:srgbClr val="B1BFBC"/>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1BFBC"/>
                      </a:solidFill>
                      <a:prstDash val="solid"/>
                      <a:round/>
                      <a:headEnd type="none" w="med" len="med"/>
                      <a:tailEnd type="none" w="med" len="med"/>
                    </a:lnB>
                    <a:solidFill>
                      <a:srgbClr val="DDEFEC"/>
                    </a:solidFill>
                  </a:tcPr>
                </a:tc>
              </a:tr>
            </a:tbl>
          </a:graphicData>
        </a:graphic>
      </p:graphicFrame>
      <p:sp>
        <p:nvSpPr>
          <p:cNvPr id="21" name="Text 18"/>
          <p:cNvSpPr/>
          <p:nvPr/>
        </p:nvSpPr>
        <p:spPr>
          <a:xfrm>
            <a:off x="7848498" y="4620506"/>
            <a:ext cx="3845875"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05E"/>
                </a:solidFill>
                <a:latin typeface="DM Sans" pitchFamily="34" charset="0"/>
                <a:ea typeface="DM Sans" pitchFamily="34" charset="-122"/>
                <a:cs typeface="DM Sans" pitchFamily="34" charset="-120"/>
              </a:rPr>
              <a:t>Made-up numbers, budget 3,500: buy A and B in full (3,000), then one third of C (500). Profit 1,450. Ratio = profit ÷ cost.</a:t>
            </a:r>
            <a:endParaRPr lang="en-US" sz="1300" dirty="0">
              <a:latin typeface="DM Sans" charset="0"/>
              <a:ea typeface="DM Sans" charset="0"/>
              <a:cs typeface="DM Sans" charset="0"/>
            </a:endParaRPr>
          </a:p>
        </p:txBody>
      </p:sp>
      <p:sp>
        <p:nvSpPr>
          <p:cNvPr id="22" name="Text 19"/>
          <p:cNvSpPr/>
          <p:nvPr/>
        </p:nvSpPr>
        <p:spPr>
          <a:xfrm>
            <a:off x="7848498" y="5415285"/>
            <a:ext cx="3845875"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Design and worked example: fractional_knapsack_report.md. Not coded yet.</a:t>
            </a:r>
            <a:endParaRPr lang="en-US" sz="1200" dirty="0">
              <a:latin typeface="DM Sans" charset="0"/>
              <a:ea typeface="DM Sans" charset="0"/>
              <a:cs typeface="DM Sans" charset="0"/>
            </a:endParaRPr>
          </a:p>
        </p:txBody>
      </p:sp>
      <p:sp>
        <p:nvSpPr>
          <p:cNvPr id="23" name="Text 20"/>
          <p:cNvSpPr/>
          <p:nvPr/>
        </p:nvSpPr>
        <p:spPr>
          <a:xfrm>
            <a:off x="3809927" y="6238211"/>
            <a:ext cx="80055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DM Sans" pitchFamily="34" charset="0"/>
                <a:ea typeface="DM Sans" pitchFamily="34" charset="-122"/>
                <a:cs typeface="DM Sans" pitchFamily="34" charset="-120"/>
              </a:rPr>
              <a:t>Supply chain forecasting and inventory risk · 11</a:t>
            </a:r>
            <a:endParaRPr lang="en-US" sz="1200" dirty="0">
              <a:latin typeface="DM Sans" charset="0"/>
              <a:ea typeface="DM Sans" charset="0"/>
              <a:cs typeface="DM San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1"/>
        </a:solidFill>
      </p:bgPr>
    </p:bg>
    <p:spTree>
      <p:nvGrpSpPr>
        <p:cNvPr id="1" name=""/>
        <p:cNvGrpSpPr/>
        <p:nvPr/>
      </p:nvGrpSpPr>
      <p:grpSpPr>
        <a:xfrm>
          <a:off x="0" y="0"/>
          <a:ext cx="0" cy="0"/>
          <a:chOff x="0" y="0"/>
          <a:chExt cx="0" cy="0"/>
        </a:xfrm>
      </p:grpSpPr>
      <p:sp>
        <p:nvSpPr>
          <p:cNvPr id="2" name="Text 0"/>
          <p:cNvSpPr/>
          <p:nvPr>
            <p:ph type="title"/>
          </p:nvPr>
        </p:nvSpPr>
        <p:spPr>
          <a:xfrm>
            <a:off x="812785" y="812788"/>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5EEAD4"/>
                </a:solidFill>
                <a:latin typeface="DM Sans" pitchFamily="34" charset="0"/>
                <a:ea typeface="DM Sans" pitchFamily="34" charset="-122"/>
                <a:cs typeface="DM Sans" pitchFamily="34" charset="-120"/>
              </a:rPr>
              <a:t>Live demo</a:t>
            </a:r>
            <a:endParaRPr lang="en-US" sz="3600" dirty="0">
              <a:latin typeface="DM Sans" charset="0"/>
              <a:ea typeface="DM Sans" charset="0"/>
              <a:cs typeface="DM Sans" charset="0"/>
            </a:endParaRPr>
          </a:p>
        </p:txBody>
      </p:sp>
      <p:sp>
        <p:nvSpPr>
          <p:cNvPr id="3" name="Text 1"/>
          <p:cNvSpPr/>
          <p:nvPr/>
        </p:nvSpPr>
        <p:spPr>
          <a:xfrm>
            <a:off x="767512" y="2249109"/>
            <a:ext cx="10921001" cy="2400403"/>
          </a:xfrm>
          <a:prstGeom prst="rect">
            <a:avLst/>
          </a:prstGeom>
          <a:noFill/>
          <a:ln/>
        </p:spPr>
        <p:txBody>
          <a:bodyPr wrap="square" lIns="0" tIns="0" rIns="0" bIns="0" rtlCol="0" anchor="t">
            <a:normAutofit/>
          </a:bodyPr>
          <a:lstStyle/>
          <a:p>
            <a:pPr algn="l" marL="299273" indent="-299273">
              <a:lnSpc>
                <a:spcPts val="3740"/>
              </a:lnSpc>
              <a:buSzPct val="100000"/>
              <a:buFontTx/>
              <a:buAutoNum type="arabicPeriod" startAt="1"/>
            </a:pPr>
            <a:r>
              <a:rPr lang="en-US" sz="2200" dirty="0">
                <a:solidFill>
                  <a:srgbClr val="F6F5F0"/>
                </a:solidFill>
                <a:latin typeface="DM Sans" pitchFamily="34" charset="0"/>
                <a:ea typeface="DM Sans" pitchFamily="34" charset="-122"/>
                <a:cs typeface="DM Sans" pitchFamily="34" charset="-120"/>
              </a:rPr>
              <a:t>Open the app and type the MySQL password in the sidebar.</a:t>
            </a:r>
            <a:endParaRPr lang="en-US" sz="2200" dirty="0">
              <a:latin typeface="DM Sans" charset="0"/>
              <a:ea typeface="DM Sans" charset="0"/>
              <a:cs typeface="DM Sans" charset="0"/>
            </a:endParaRPr>
          </a:p>
          <a:p>
            <a:pPr algn="l" marL="299273" indent="-299273">
              <a:lnSpc>
                <a:spcPts val="3740"/>
              </a:lnSpc>
              <a:buSzPct val="100000"/>
              <a:buFontTx/>
              <a:buAutoNum type="arabicPeriod" startAt="1"/>
            </a:pPr>
            <a:r>
              <a:rPr lang="en-US" sz="2200" dirty="0">
                <a:solidFill>
                  <a:srgbClr val="F6F5F0"/>
                </a:solidFill>
                <a:latin typeface="DM Sans" pitchFamily="34" charset="0"/>
                <a:ea typeface="DM Sans" pitchFamily="34" charset="-122"/>
                <a:cs typeface="DM Sans" pitchFamily="34" charset="-120"/>
              </a:rPr>
              <a:t>Pick 30 Nov 2024 and press Show risk: all 250 series are GREEN.</a:t>
            </a:r>
            <a:endParaRPr lang="en-US" sz="2200" dirty="0">
              <a:latin typeface="DM Sans" charset="0"/>
              <a:ea typeface="DM Sans" charset="0"/>
              <a:cs typeface="DM Sans" charset="0"/>
            </a:endParaRPr>
          </a:p>
          <a:p>
            <a:pPr algn="l" marL="299273" indent="-299273">
              <a:lnSpc>
                <a:spcPts val="3740"/>
              </a:lnSpc>
              <a:buSzPct val="100000"/>
              <a:buFontTx/>
              <a:buAutoNum type="arabicPeriod" startAt="1"/>
            </a:pPr>
            <a:r>
              <a:rPr lang="en-US" sz="2200" dirty="0">
                <a:solidFill>
                  <a:srgbClr val="F6F5F0"/>
                </a:solidFill>
                <a:latin typeface="DM Sans" pitchFamily="34" charset="0"/>
                <a:ea typeface="DM Sans" pitchFamily="34" charset="-122"/>
                <a:cs typeface="DM Sans" pitchFamily="34" charset="-120"/>
              </a:rPr>
              <a:t>Pick 22 May 2024: 21 RED and 16 YELLOW.</a:t>
            </a:r>
            <a:endParaRPr lang="en-US" sz="2200" dirty="0">
              <a:latin typeface="DM Sans" charset="0"/>
              <a:ea typeface="DM Sans" charset="0"/>
              <a:cs typeface="DM Sans" charset="0"/>
            </a:endParaRPr>
          </a:p>
          <a:p>
            <a:pPr algn="l" marL="299273" indent="-299273">
              <a:lnSpc>
                <a:spcPts val="3740"/>
              </a:lnSpc>
              <a:buSzPct val="100000"/>
              <a:buFontTx/>
              <a:buAutoNum type="arabicPeriod" startAt="1"/>
            </a:pPr>
            <a:r>
              <a:rPr lang="en-US" sz="2200" dirty="0">
                <a:solidFill>
                  <a:srgbClr val="F6F5F0"/>
                </a:solidFill>
                <a:latin typeface="DM Sans" pitchFamily="34" charset="0"/>
                <a:ea typeface="DM Sans" pitchFamily="34" charset="-122"/>
                <a:cs typeface="DM Sans" pitchFamily="34" charset="-120"/>
              </a:rPr>
              <a:t>Read the action column: order now, stock runs out even if you order now, or no need to reorder.</a:t>
            </a:r>
            <a:endParaRPr lang="en-US" sz="2200" dirty="0">
              <a:latin typeface="DM Sans" charset="0"/>
              <a:ea typeface="DM Sans" charset="0"/>
              <a:cs typeface="DM Sans" charset="0"/>
            </a:endParaRPr>
          </a:p>
        </p:txBody>
      </p:sp>
      <p:sp>
        <p:nvSpPr>
          <p:cNvPr id="4" name="Text 2"/>
          <p:cNvSpPr/>
          <p:nvPr/>
        </p:nvSpPr>
        <p:spPr>
          <a:xfrm>
            <a:off x="812785" y="5557503"/>
            <a:ext cx="1088334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7D2DE"/>
                </a:solidFill>
                <a:latin typeface="DM Sans" pitchFamily="34" charset="0"/>
                <a:ea typeface="DM Sans" pitchFamily="34" charset="-122"/>
                <a:cs typeface="DM Sans" pitchFamily="34" charset="-120"/>
              </a:rPr>
              <a:t>The app reads the SQL view from MySQL. Each colour is for the date you pick.</a:t>
            </a:r>
            <a:endParaRPr lang="en-US" sz="1600" dirty="0">
              <a:latin typeface="DM Sans" charset="0"/>
              <a:ea typeface="DM Sans" charset="0"/>
              <a:cs typeface="DM Sans" charset="0"/>
            </a:endParaRPr>
          </a:p>
        </p:txBody>
      </p:sp>
      <p:sp>
        <p:nvSpPr>
          <p:cNvPr id="5" name="Text 3"/>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DM Sans" pitchFamily="34" charset="0"/>
                <a:ea typeface="DM Sans" pitchFamily="34" charset="-122"/>
                <a:cs typeface="DM Sans" pitchFamily="34" charset="-120"/>
              </a:rPr>
              <a:t>Supply chain forecasting and inventory risk · 12</a:t>
            </a:r>
            <a:endParaRPr lang="en-US" sz="1200" dirty="0">
              <a:latin typeface="DM Sans" charset="0"/>
              <a:ea typeface="DM Sans" charset="0"/>
              <a:cs typeface="DM Sans"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1"/>
        </a:solidFill>
      </p:bgPr>
    </p:bg>
    <p:spTree>
      <p:nvGrpSpPr>
        <p:cNvPr id="1" name=""/>
        <p:cNvGrpSpPr/>
        <p:nvPr/>
      </p:nvGrpSpPr>
      <p:grpSpPr>
        <a:xfrm>
          <a:off x="0" y="0"/>
          <a:ext cx="0" cy="0"/>
          <a:chOff x="0" y="0"/>
          <a:chExt cx="0" cy="0"/>
        </a:xfrm>
      </p:grpSpPr>
      <p:sp>
        <p:nvSpPr>
          <p:cNvPr id="2" name="Text 0"/>
          <p:cNvSpPr/>
          <p:nvPr>
            <p:ph type="title"/>
          </p:nvPr>
        </p:nvSpPr>
        <p:spPr>
          <a:xfrm>
            <a:off x="812785" y="812788"/>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5EEAD4"/>
                </a:solidFill>
                <a:latin typeface="DM Sans" pitchFamily="34" charset="0"/>
                <a:ea typeface="DM Sans" pitchFamily="34" charset="-122"/>
                <a:cs typeface="DM Sans" pitchFamily="34" charset="-120"/>
              </a:rPr>
              <a:t>Next steps</a:t>
            </a:r>
            <a:endParaRPr lang="en-US" sz="3600" dirty="0">
              <a:latin typeface="DM Sans" charset="0"/>
              <a:ea typeface="DM Sans" charset="0"/>
              <a:cs typeface="DM Sans" charset="0"/>
            </a:endParaRPr>
          </a:p>
        </p:txBody>
      </p:sp>
      <p:sp>
        <p:nvSpPr>
          <p:cNvPr id="3" name="Text 1"/>
          <p:cNvSpPr/>
          <p:nvPr/>
        </p:nvSpPr>
        <p:spPr>
          <a:xfrm>
            <a:off x="821421" y="2195748"/>
            <a:ext cx="10867092" cy="2121121"/>
          </a:xfrm>
          <a:prstGeom prst="rect">
            <a:avLst/>
          </a:prstGeom>
          <a:noFill/>
          <a:ln/>
        </p:spPr>
        <p:txBody>
          <a:bodyPr wrap="square" lIns="0" tIns="0" rIns="0" bIns="0" rtlCol="0" anchor="t">
            <a:normAutofit/>
          </a:bodyPr>
          <a:lstStyle/>
          <a:p>
            <a:pPr algn="l" marL="245364" indent="-245364">
              <a:lnSpc>
                <a:spcPts val="3300"/>
              </a:lnSpc>
              <a:buSzPct val="100000"/>
              <a:buChar char="•"/>
            </a:pPr>
            <a:r>
              <a:rPr lang="en-US" sz="2200" dirty="0">
                <a:solidFill>
                  <a:srgbClr val="F6F5F0"/>
                </a:solidFill>
                <a:latin typeface="DM Sans" pitchFamily="34" charset="0"/>
                <a:ea typeface="DM Sans" pitchFamily="34" charset="-122"/>
                <a:cs typeface="DM Sans" pitchFamily="34" charset="-120"/>
              </a:rPr>
              <a:t>Forecast all 250 series, not only 10.</a:t>
            </a:r>
            <a:endParaRPr lang="en-US" sz="2200" dirty="0">
              <a:latin typeface="DM Sans" charset="0"/>
              <a:ea typeface="DM Sans" charset="0"/>
              <a:cs typeface="DM Sans" charset="0"/>
            </a:endParaRPr>
          </a:p>
          <a:p>
            <a:pPr algn="l" marL="245364" indent="-245364">
              <a:lnSpc>
                <a:spcPts val="3300"/>
              </a:lnSpc>
              <a:buSzPct val="100000"/>
              <a:buChar char="•"/>
            </a:pPr>
            <a:r>
              <a:rPr lang="en-US" sz="2200" dirty="0">
                <a:solidFill>
                  <a:srgbClr val="F6F5F0"/>
                </a:solidFill>
                <a:latin typeface="DM Sans" pitchFamily="34" charset="0"/>
                <a:ea typeface="DM Sans" pitchFamily="34" charset="-122"/>
                <a:cs typeface="DM Sans" pitchFamily="34" charset="-120"/>
              </a:rPr>
              <a:t>Budget purchase plan with the fractional knapsack: rank products by profit per unit of money spent and buy the best first.</a:t>
            </a:r>
            <a:endParaRPr lang="en-US" sz="2200" dirty="0">
              <a:latin typeface="DM Sans" charset="0"/>
              <a:ea typeface="DM Sans" charset="0"/>
              <a:cs typeface="DM Sans" charset="0"/>
            </a:endParaRPr>
          </a:p>
          <a:p>
            <a:pPr algn="l" marL="245364" indent="-245364">
              <a:lnSpc>
                <a:spcPts val="3300"/>
              </a:lnSpc>
              <a:buSzPct val="100000"/>
              <a:buChar char="•"/>
            </a:pPr>
            <a:r>
              <a:rPr lang="en-US" sz="2200" dirty="0">
                <a:solidFill>
                  <a:srgbClr val="F6F5F0"/>
                </a:solidFill>
                <a:latin typeface="DM Sans" pitchFamily="34" charset="0"/>
                <a:ea typeface="DM Sans" pitchFamily="34" charset="-122"/>
                <a:cs typeface="DM Sans" pitchFamily="34" charset="-120"/>
              </a:rPr>
              <a:t>Try LSTM once there is more history.</a:t>
            </a:r>
            <a:endParaRPr lang="en-US" sz="2200" dirty="0">
              <a:latin typeface="DM Sans" charset="0"/>
              <a:ea typeface="DM Sans" charset="0"/>
              <a:cs typeface="DM Sans" charset="0"/>
            </a:endParaRPr>
          </a:p>
          <a:p>
            <a:pPr algn="l" marL="245364" indent="-245364">
              <a:lnSpc>
                <a:spcPts val="3300"/>
              </a:lnSpc>
              <a:buSzPct val="100000"/>
              <a:buChar char="•"/>
            </a:pPr>
            <a:r>
              <a:rPr lang="en-US" sz="2200" dirty="0">
                <a:solidFill>
                  <a:srgbClr val="F6F5F0"/>
                </a:solidFill>
                <a:latin typeface="DM Sans" pitchFamily="34" charset="0"/>
                <a:ea typeface="DM Sans" pitchFamily="34" charset="-122"/>
                <a:cs typeface="DM Sans" pitchFamily="34" charset="-120"/>
              </a:rPr>
              <a:t>Add the best order size (EOQ) and supplier delays to the risk rule.</a:t>
            </a:r>
            <a:endParaRPr lang="en-US" sz="2200" dirty="0">
              <a:latin typeface="DM Sans" charset="0"/>
              <a:ea typeface="DM Sans" charset="0"/>
              <a:cs typeface="DM Sans" charset="0"/>
            </a:endParaRPr>
          </a:p>
        </p:txBody>
      </p:sp>
      <p:sp>
        <p:nvSpPr>
          <p:cNvPr id="4" name="Text 2"/>
          <p:cNvSpPr/>
          <p:nvPr/>
        </p:nvSpPr>
        <p:spPr>
          <a:xfrm>
            <a:off x="812785" y="5171504"/>
            <a:ext cx="10883348" cy="695898"/>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5F0"/>
                </a:solidFill>
                <a:latin typeface="DM Sans" pitchFamily="34" charset="0"/>
                <a:ea typeface="DM Sans" pitchFamily="34" charset="-122"/>
                <a:cs typeface="DM Sans" pitchFamily="34" charset="-120"/>
              </a:rPr>
              <a:t>Thank you. Questions?</a:t>
            </a:r>
            <a:endParaRPr lang="en-US" sz="4800" dirty="0">
              <a:latin typeface="DM Sans" charset="0"/>
              <a:ea typeface="DM Sans" charset="0"/>
              <a:cs typeface="DM Sans" charset="0"/>
            </a:endParaRPr>
          </a:p>
        </p:txBody>
      </p:sp>
      <p:sp>
        <p:nvSpPr>
          <p:cNvPr id="5" name="Text 3"/>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DM Sans" pitchFamily="34" charset="0"/>
                <a:ea typeface="DM Sans" pitchFamily="34" charset="-122"/>
                <a:cs typeface="DM Sans" pitchFamily="34" charset="-120"/>
              </a:rPr>
              <a:t>Supply chain forecasting and inventory risk · 13</a:t>
            </a:r>
            <a:endParaRPr lang="en-US" sz="1200" dirty="0">
              <a:latin typeface="DM Sans" charset="0"/>
              <a:ea typeface="DM Sans" charset="0"/>
              <a:cs typeface="DM Sans" charset="0"/>
            </a:endParaRPr>
          </a:p>
        </p:txBody>
      </p:sp>
    </p:spTree>
  </p:cSld>
  <p:clrMapOvr>
    <a:masterClrMapping/>
  </p:clrMapOvr>
</p:sld>
</file>

<file path=ppt/theme/theme1.xml><?xml version="1.0" encoding="utf-8"?>
<a:theme xmlns:a="http://schemas.openxmlformats.org/drawingml/2006/main" name="Supply Chain Forecasting and Inventory Risk">
  <a:themeElements>
    <a:clrScheme name="Supply Chain Forecasting and Inventory Risk">
      <a:dk1>
        <a:srgbClr val="46505E"/>
      </a:dk1>
      <a:lt1>
        <a:srgbClr val="F6F5F0"/>
      </a:lt1>
      <a:dk2>
        <a:srgbClr val="727983"/>
      </a:dk2>
      <a:lt2>
        <a:srgbClr val="E4E5E1"/>
      </a:lt2>
      <a:accent1>
        <a:srgbClr val="0F766E"/>
      </a:accent1>
      <a:accent2>
        <a:srgbClr val="5EEAD4"/>
      </a:accent2>
      <a:accent3>
        <a:srgbClr val="11643A"/>
      </a:accent3>
      <a:accent4>
        <a:srgbClr val="912018"/>
      </a:accent4>
      <a:accent5>
        <a:srgbClr val="7A4B00"/>
      </a:accent5>
      <a:accent6>
        <a:srgbClr val="FEF3C7"/>
      </a:accent6>
      <a:hlink>
        <a:srgbClr val="0563C1"/>
      </a:hlink>
      <a:folHlink>
        <a:srgbClr val="954F72"/>
      </a:folHlink>
    </a:clrScheme>
    <a:fontScheme name="Supply Chain Forecasting and Inventory Risk">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Forecasting and Inventory Risk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2026-10-31T13:44:14Z</dcterms:created>
  <dcterms:modified xsi:type="dcterms:W3CDTF">2026-10-31T13:44:14Z</dcterms:modified>
</cp:coreProperties>
</file>